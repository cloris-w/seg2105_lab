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embeddedFontLst>
    <p:embeddedFont>
      <p:font typeface="Roboto Light" panose="02000000000000000000" pitchFamily="2" charset="0"/>
      <p:regular r:id="rId20"/>
      <p:bold r:id="rId21"/>
      <p:italic r:id="rId22"/>
      <p:boldItalic r:id="rId23"/>
    </p:embeddedFont>
    <p:embeddedFont>
      <p:font typeface="Roboto Thin" panose="02000000000000000000" pitchFamily="2" charset="0"/>
      <p:regular r:id="rId24"/>
      <p:bold r:id="rId25"/>
      <p:italic r:id="rId26"/>
      <p:boldItalic r:id="rId27"/>
    </p:embeddedFont>
    <p:embeddedFont>
      <p:font typeface="Times" panose="02020603050405020304" pitchFamily="18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0AFB5A-2955-6DC9-8A95-510DB606A6B7}" v="43" dt="2023-11-02T19:23:43.120"/>
    <p1510:client id="{A99D3D8B-DEA4-34BD-8A95-BE246C34FFBC}" v="8" dt="2023-11-06T04:16:50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 Template">
  <p:cSld name="Box Templa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914400" y="477256"/>
            <a:ext cx="873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5671521"/>
            <a:ext cx="12192000" cy="977794"/>
          </a:xfrm>
          <a:prstGeom prst="rect">
            <a:avLst/>
          </a:prstGeom>
          <a:solidFill>
            <a:srgbClr val="3B373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1518424" y="5499026"/>
            <a:ext cx="9144000" cy="75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2351584" y="2852936"/>
            <a:ext cx="9840416" cy="1224136"/>
          </a:xfrm>
          <a:prstGeom prst="rect">
            <a:avLst/>
          </a:prstGeom>
          <a:solidFill>
            <a:srgbClr val="3B373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2351584" y="4149080"/>
            <a:ext cx="9840416" cy="321320"/>
          </a:xfrm>
          <a:prstGeom prst="rect">
            <a:avLst/>
          </a:prstGeom>
          <a:solidFill>
            <a:srgbClr val="3B373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2251137" y="2852936"/>
            <a:ext cx="104681" cy="12241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endParaRPr sz="2400" b="0" i="0" u="none" strike="noStrike" cap="none">
              <a:solidFill>
                <a:srgbClr val="A69C95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2251137" y="4149080"/>
            <a:ext cx="104680" cy="3213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9C95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rgbClr val="A69C95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23" name="Google Shape;23;p2"/>
          <p:cNvSpPr txBox="1"/>
          <p:nvPr/>
        </p:nvSpPr>
        <p:spPr>
          <a:xfrm>
            <a:off x="239350" y="5814011"/>
            <a:ext cx="8544949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Faculty of Engineering |  Faculté de Génie</a:t>
            </a:r>
            <a:endParaRPr sz="145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" name="Google Shape;24;p2" descr="http://www.uottawa.ca/brand/sites/www.uottawa.ca.brand/files/uottawa_hor_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29199" y="5923545"/>
            <a:ext cx="2497580" cy="5010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239350" y="6184189"/>
            <a:ext cx="8544949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45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2495551" y="2947959"/>
            <a:ext cx="9552516" cy="65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body" idx="2"/>
          </p:nvPr>
        </p:nvSpPr>
        <p:spPr>
          <a:xfrm>
            <a:off x="2495551" y="3600450"/>
            <a:ext cx="9552516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3"/>
          </p:nvPr>
        </p:nvSpPr>
        <p:spPr>
          <a:xfrm>
            <a:off x="2495551" y="4158647"/>
            <a:ext cx="9552516" cy="29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963084" y="428111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963084" y="2780929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pic>
        <p:nvPicPr>
          <p:cNvPr id="32" name="Google Shape;32;p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48886"/>
            <a:ext cx="121920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" y="6642134"/>
            <a:ext cx="12192001" cy="28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 amt="0"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916517" y="774484"/>
            <a:ext cx="1036617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916517" y="2058160"/>
            <a:ext cx="10363200" cy="375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40" name="Google Shape;40;p5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914400" y="477256"/>
            <a:ext cx="873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914400" y="1524000"/>
            <a:ext cx="508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97600" y="1524000"/>
            <a:ext cx="508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pic>
        <p:nvPicPr>
          <p:cNvPr id="45" name="Google Shape;45;p6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pic>
        <p:nvPicPr>
          <p:cNvPr id="52" name="Google Shape;52;p7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914400" y="477256"/>
            <a:ext cx="873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8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609601" y="404664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766733" y="404665"/>
            <a:ext cx="6815667" cy="547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609601" y="1772817"/>
            <a:ext cx="401108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62" name="Google Shape;62;p10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2389717" y="4302422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2389717" y="612776"/>
            <a:ext cx="7315200" cy="3536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2389717" y="4869160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67" name="Google Shape;67;p11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914400" y="477256"/>
            <a:ext cx="873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52900" y="-1714500"/>
            <a:ext cx="38862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71" name="Google Shape;71;p12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7467600" y="1600200"/>
            <a:ext cx="5029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184400" y="-889000"/>
            <a:ext cx="5029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75" name="Google Shape;75;p1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ftr" idx="11"/>
          </p:nvPr>
        </p:nvSpPr>
        <p:spPr>
          <a:xfrm>
            <a:off x="4176184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0" y="5768976"/>
            <a:ext cx="12192000" cy="8858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39185" y="6151563"/>
            <a:ext cx="6049433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engineering.uOttawa.ca</a:t>
            </a:r>
            <a:endParaRPr/>
          </a:p>
        </p:txBody>
      </p:sp>
      <p:pic>
        <p:nvPicPr>
          <p:cNvPr id="93" name="Google Shape;93;p17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1785" y="5948364"/>
            <a:ext cx="2264833" cy="4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9051" y="6651626"/>
            <a:ext cx="12230101" cy="2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963084" y="428111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963084" y="2780929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1043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914400" y="1524000"/>
            <a:ext cx="5080000" cy="4569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7600" y="1524000"/>
            <a:ext cx="5080000" cy="4569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1043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609601" y="404664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4766733" y="404665"/>
            <a:ext cx="6815667" cy="547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2"/>
          </p:nvPr>
        </p:nvSpPr>
        <p:spPr>
          <a:xfrm>
            <a:off x="609601" y="1772817"/>
            <a:ext cx="401108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0" y="5768976"/>
            <a:ext cx="12192000" cy="8858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239185" y="6151563"/>
            <a:ext cx="6049433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education.uOttawa.ca</a:t>
            </a:r>
            <a:endParaRPr sz="1200" b="1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23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1785" y="5948364"/>
            <a:ext cx="2264833" cy="4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9051" y="6651626"/>
            <a:ext cx="12230101" cy="2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2389717" y="4302422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>
            <a:spLocks noGrp="1"/>
          </p:cNvSpPr>
          <p:nvPr>
            <p:ph type="pic" idx="2"/>
          </p:nvPr>
        </p:nvSpPr>
        <p:spPr>
          <a:xfrm>
            <a:off x="2389717" y="612776"/>
            <a:ext cx="7315200" cy="3536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2389717" y="4869160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1043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 rot="5400000">
            <a:off x="3741737" y="-1303336"/>
            <a:ext cx="4784725" cy="104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5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88"/>
            <a:ext cx="12192000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 rot="5400000">
            <a:off x="7467600" y="1600200"/>
            <a:ext cx="5029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body" idx="1"/>
          </p:nvPr>
        </p:nvSpPr>
        <p:spPr>
          <a:xfrm rot="5400000">
            <a:off x="2184400" y="-889000"/>
            <a:ext cx="5029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477256"/>
            <a:ext cx="873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524000"/>
            <a:ext cx="103632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6648886"/>
            <a:ext cx="121920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top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2" y="-1866"/>
            <a:ext cx="12192003" cy="38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2" y="6642134"/>
            <a:ext cx="12192001" cy="28073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29">
          <p15:clr>
            <a:srgbClr val="F26B43"/>
          </p15:clr>
        </p15:guide>
        <p15:guide id="2" orient="horz" pos="4110">
          <p15:clr>
            <a:srgbClr val="F26B43"/>
          </p15:clr>
        </p15:guide>
        <p15:guide id="3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 amt="0"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10439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914400" y="1524001"/>
            <a:ext cx="10439400" cy="47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ftr" idx="11"/>
          </p:nvPr>
        </p:nvSpPr>
        <p:spPr>
          <a:xfrm>
            <a:off x="4038600" y="63817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ldNum" idx="12"/>
          </p:nvPr>
        </p:nvSpPr>
        <p:spPr>
          <a:xfrm>
            <a:off x="8610600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/>
        </p:nvSpPr>
        <p:spPr>
          <a:xfrm>
            <a:off x="2662818" y="5499026"/>
            <a:ext cx="6858000" cy="75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3395664" y="3001747"/>
            <a:ext cx="7164387" cy="548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 b="1">
                <a:solidFill>
                  <a:schemeClr val="lt1"/>
                </a:solidFill>
              </a:rPr>
              <a:t>SQLite: Local database on Android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2"/>
          </p:nvPr>
        </p:nvSpPr>
        <p:spPr>
          <a:xfrm>
            <a:off x="3395664" y="3600451"/>
            <a:ext cx="7164387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Light"/>
              <a:buNone/>
            </a:pPr>
            <a:r>
              <a:rPr lang="en-US" sz="1600" b="1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SEG2105 - Introduction to Software Engineering – Fall 2026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3"/>
          </p:nvPr>
        </p:nvSpPr>
        <p:spPr>
          <a:xfrm>
            <a:off x="3395664" y="4158647"/>
            <a:ext cx="7164387" cy="29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 Exercise – SQLite Product Manager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Interface </a:t>
            </a:r>
            <a:endParaRPr/>
          </a:p>
        </p:txBody>
      </p:sp>
      <p:pic>
        <p:nvPicPr>
          <p:cNvPr id="170" name="Google Shape;170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r="30369"/>
          <a:stretch/>
        </p:blipFill>
        <p:spPr>
          <a:xfrm>
            <a:off x="1344084" y="1899171"/>
            <a:ext cx="5155570" cy="41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E641252B-820D-729D-4E43-14BA3934F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134" y="883220"/>
            <a:ext cx="2649723" cy="5681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Product Table </a:t>
            </a:r>
            <a:endParaRPr/>
          </a:p>
        </p:txBody>
      </p:sp>
      <p:pic>
        <p:nvPicPr>
          <p:cNvPr id="177" name="Google Shape;177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80865" y="2480984"/>
            <a:ext cx="70612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 the Project</a:t>
            </a:r>
            <a:endParaRPr dirty="0"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1"/>
          </p:nvPr>
        </p:nvSpPr>
        <p:spPr>
          <a:xfrm>
            <a:off x="527381" y="1773239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i="1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dirty="0"/>
              <a:t> </a:t>
            </a:r>
            <a:r>
              <a:rPr lang="en-US" b="1" dirty="0"/>
              <a:t>Import</a:t>
            </a:r>
            <a:r>
              <a:rPr lang="en-US" dirty="0"/>
              <a:t> the  project in Android Studio: </a:t>
            </a:r>
            <a:br>
              <a:rPr lang="en-US"/>
            </a:br>
            <a:r>
              <a:rPr lang="en-US" dirty="0"/>
              <a:t>	Click File &gt; New &gt; Import Project.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b="1" dirty="0"/>
              <a:t>Implement</a:t>
            </a:r>
            <a:r>
              <a:rPr lang="en-US" dirty="0"/>
              <a:t> the code by following the steps to </a:t>
            </a:r>
            <a:r>
              <a:rPr lang="en-US" b="1" dirty="0"/>
              <a:t>add</a:t>
            </a:r>
            <a:r>
              <a:rPr lang="en-US" dirty="0"/>
              <a:t>,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delete</a:t>
            </a:r>
            <a:r>
              <a:rPr lang="en-US" dirty="0"/>
              <a:t> from the database. </a:t>
            </a:r>
            <a:endParaRPr dirty="0"/>
          </a:p>
        </p:txBody>
      </p:sp>
      <p:sp>
        <p:nvSpPr>
          <p:cNvPr id="185" name="Google Shape;185;p30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Steps</a:t>
            </a:r>
            <a:endParaRPr dirty="0"/>
          </a:p>
        </p:txBody>
      </p:sp>
      <p:sp>
        <p:nvSpPr>
          <p:cNvPr id="191" name="Google Shape;191;p31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dirty="0"/>
              <a:t>Create a class that extends </a:t>
            </a:r>
            <a:r>
              <a:rPr lang="en-US" dirty="0" err="1"/>
              <a:t>SQliteOpenHelper</a:t>
            </a:r>
            <a:r>
              <a:rPr lang="en-US" dirty="0"/>
              <a:t> to perform the following operations in </a:t>
            </a:r>
            <a:r>
              <a:rPr lang="en-US" dirty="0" err="1"/>
              <a:t>Sqlite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lang="en-US" dirty="0"/>
              <a:t>Insert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lang="en-US" dirty="0"/>
              <a:t>Read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lang="en-US" dirty="0"/>
              <a:t>Delete</a:t>
            </a:r>
            <a:endParaRPr dirty="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114300" indent="0"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public class </a:t>
            </a:r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extends </a:t>
            </a:r>
            <a:r>
              <a:rPr lang="en-CA" dirty="0" err="1">
                <a:solidFill>
                  <a:srgbClr val="A9B7C6"/>
                </a:solidFill>
                <a:effectLst/>
              </a:rPr>
              <a:t>SQLiteOpenHelper</a:t>
            </a:r>
            <a:r>
              <a:rPr lang="en-CA" dirty="0">
                <a:solidFill>
                  <a:srgbClr val="A9B7C6"/>
                </a:solidFill>
                <a:effectLst/>
              </a:rPr>
              <a:t> {}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192" name="Google Shape;192;p31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550333" y="640857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Libraries to be Imported</a:t>
            </a:r>
            <a:endParaRPr/>
          </a:p>
        </p:txBody>
      </p:sp>
      <p:sp>
        <p:nvSpPr>
          <p:cNvPr id="199" name="Google Shape;199;p32"/>
          <p:cNvSpPr txBox="1">
            <a:spLocks noGrp="1"/>
          </p:cNvSpPr>
          <p:nvPr>
            <p:ph type="body" idx="1"/>
          </p:nvPr>
        </p:nvSpPr>
        <p:spPr>
          <a:xfrm>
            <a:off x="550333" y="1773239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CA" dirty="0">
              <a:solidFill>
                <a:srgbClr val="CC7832"/>
              </a:solidFill>
              <a:effectLst/>
            </a:endParaRPr>
          </a:p>
          <a:p>
            <a:pPr marL="114300" indent="0"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 err="1">
                <a:solidFill>
                  <a:srgbClr val="A9B7C6"/>
                </a:solidFill>
                <a:effectLst/>
              </a:rPr>
              <a:t>android.content.Context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 err="1">
                <a:solidFill>
                  <a:srgbClr val="A9B7C6"/>
                </a:solidFill>
                <a:effectLst/>
              </a:rPr>
              <a:t>android.content.ContentValues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 err="1">
                <a:solidFill>
                  <a:srgbClr val="A9B7C6"/>
                </a:solidFill>
                <a:effectLst/>
              </a:rPr>
              <a:t>android.database.Cursor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 err="1">
                <a:solidFill>
                  <a:srgbClr val="A9B7C6"/>
                </a:solidFill>
                <a:effectLst/>
              </a:rPr>
              <a:t>android.database.sqlite.SQLiteDatabase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 err="1">
                <a:solidFill>
                  <a:srgbClr val="A9B7C6"/>
                </a:solidFill>
                <a:effectLst/>
              </a:rPr>
              <a:t>android.database.sqlite.SQLiteOpenHelper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200" name="Google Shape;200;p32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Define the Schema</a:t>
            </a:r>
            <a:endParaRPr dirty="0"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CA" dirty="0">
              <a:solidFill>
                <a:srgbClr val="CC7832"/>
              </a:solidFill>
              <a:effectLst/>
            </a:endParaRPr>
          </a:p>
          <a:p>
            <a:pPr marL="114300" indent="0"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public class </a:t>
            </a:r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extends </a:t>
            </a:r>
            <a:r>
              <a:rPr lang="en-CA" dirty="0" err="1">
                <a:solidFill>
                  <a:srgbClr val="A9B7C6"/>
                </a:solidFill>
                <a:effectLst/>
              </a:rPr>
              <a:t>SQLiteOpenHelper</a:t>
            </a:r>
            <a:r>
              <a:rPr lang="en-CA" dirty="0">
                <a:solidFill>
                  <a:srgbClr val="A9B7C6"/>
                </a:solidFill>
                <a:effectLst/>
              </a:rPr>
              <a:t>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</a:t>
            </a:r>
            <a:r>
              <a:rPr lang="en-CA" dirty="0">
                <a:solidFill>
                  <a:srgbClr val="CC7832"/>
                </a:solidFill>
                <a:effectLst/>
              </a:rPr>
              <a:t>private static final int </a:t>
            </a:r>
            <a:r>
              <a:rPr lang="en-CA" i="1" dirty="0">
                <a:solidFill>
                  <a:srgbClr val="9876AA"/>
                </a:solidFill>
                <a:effectLst/>
              </a:rPr>
              <a:t>DATABASE_VERSION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1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private static final </a:t>
            </a:r>
            <a:r>
              <a:rPr lang="en-CA" dirty="0">
                <a:solidFill>
                  <a:srgbClr val="A9B7C6"/>
                </a:solidFill>
                <a:effectLst/>
              </a:rPr>
              <a:t>String </a:t>
            </a:r>
            <a:r>
              <a:rPr lang="en-CA" i="1" dirty="0">
                <a:solidFill>
                  <a:srgbClr val="9876AA"/>
                </a:solidFill>
                <a:effectLst/>
              </a:rPr>
              <a:t>DATABASE_NAME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productDB.db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public static final </a:t>
            </a:r>
            <a:r>
              <a:rPr lang="en-CA" dirty="0">
                <a:solidFill>
                  <a:srgbClr val="A9B7C6"/>
                </a:solidFill>
                <a:effectLst/>
              </a:rPr>
              <a:t>String </a:t>
            </a:r>
            <a:r>
              <a:rPr lang="en-CA" i="1" dirty="0">
                <a:solidFill>
                  <a:srgbClr val="9876AA"/>
                </a:solidFill>
                <a:effectLst/>
              </a:rPr>
              <a:t>TABLE_PRODUCTS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A8759"/>
                </a:solidFill>
                <a:effectLst/>
              </a:rPr>
              <a:t>"products"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public static final </a:t>
            </a:r>
            <a:r>
              <a:rPr lang="en-CA" dirty="0">
                <a:solidFill>
                  <a:srgbClr val="A9B7C6"/>
                </a:solidFill>
                <a:effectLst/>
              </a:rPr>
              <a:t>String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COLUMN_ID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A8759"/>
                </a:solidFill>
                <a:effectLst/>
              </a:rPr>
              <a:t>"_id"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public static final </a:t>
            </a:r>
            <a:r>
              <a:rPr lang="en-CA" dirty="0">
                <a:solidFill>
                  <a:srgbClr val="A9B7C6"/>
                </a:solidFill>
                <a:effectLst/>
              </a:rPr>
              <a:t>String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COLUMN_PRODUCTNAME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productname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public static final </a:t>
            </a:r>
            <a:r>
              <a:rPr lang="en-CA" dirty="0">
                <a:solidFill>
                  <a:srgbClr val="A9B7C6"/>
                </a:solidFill>
                <a:effectLst/>
              </a:rPr>
              <a:t>String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COLUMN_SKU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6A8759"/>
                </a:solidFill>
                <a:effectLst/>
              </a:rPr>
              <a:t>"SKU"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  <a:p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208" name="Google Shape;208;p33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7</a:t>
            </a:fld>
            <a:endParaRPr dirty="0"/>
          </a:p>
        </p:txBody>
      </p:sp>
      <p:sp>
        <p:nvSpPr>
          <p:cNvPr id="209" name="Google Shape;209;p33"/>
          <p:cNvSpPr txBox="1"/>
          <p:nvPr/>
        </p:nvSpPr>
        <p:spPr>
          <a:xfrm>
            <a:off x="4378036" y="1870364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2136846" y="5622204"/>
            <a:ext cx="184731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706582" y="292965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MyDBHandler</a:t>
            </a:r>
            <a:r>
              <a:rPr lang="en-US" dirty="0"/>
              <a:t> constructor </a:t>
            </a:r>
            <a:r>
              <a:rPr lang="en-US" b="0" dirty="0"/>
              <a:t>must call the </a:t>
            </a:r>
            <a:r>
              <a:rPr lang="en-US" dirty="0"/>
              <a:t>super</a:t>
            </a:r>
            <a:r>
              <a:rPr lang="en-US" b="0" dirty="0"/>
              <a:t> class constructor</a:t>
            </a:r>
            <a:endParaRPr dirty="0"/>
          </a:p>
        </p:txBody>
      </p:sp>
      <p:sp>
        <p:nvSpPr>
          <p:cNvPr id="217" name="Google Shape;217;p34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CA" dirty="0">
              <a:solidFill>
                <a:srgbClr val="CC7832"/>
              </a:solidFill>
              <a:effectLst/>
            </a:endParaRPr>
          </a:p>
          <a:p>
            <a:pPr marL="114300" indent="0"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public </a:t>
            </a:r>
            <a:r>
              <a:rPr lang="en-CA" dirty="0" err="1">
                <a:solidFill>
                  <a:srgbClr val="FFC66D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(Context context)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</a:t>
            </a:r>
            <a:r>
              <a:rPr lang="en-CA" dirty="0">
                <a:solidFill>
                  <a:srgbClr val="CC7832"/>
                </a:solidFill>
                <a:effectLst/>
              </a:rPr>
              <a:t>super</a:t>
            </a:r>
            <a:r>
              <a:rPr lang="en-CA" dirty="0">
                <a:solidFill>
                  <a:srgbClr val="A9B7C6"/>
                </a:solidFill>
                <a:effectLst/>
              </a:rPr>
              <a:t>(context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i="1" dirty="0">
                <a:solidFill>
                  <a:srgbClr val="9876AA"/>
                </a:solidFill>
                <a:effectLst/>
              </a:rPr>
              <a:t>DATABASE_NAME</a:t>
            </a:r>
            <a:r>
              <a:rPr lang="en-CA" dirty="0">
                <a:solidFill>
                  <a:srgbClr val="CC7832"/>
                </a:solidFill>
                <a:effectLst/>
              </a:rPr>
              <a:t>, null, </a:t>
            </a:r>
            <a:r>
              <a:rPr lang="en-CA" i="1" dirty="0">
                <a:solidFill>
                  <a:srgbClr val="9876AA"/>
                </a:solidFill>
                <a:effectLst/>
              </a:rPr>
              <a:t>DATABASE_VERSION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</a:p>
        </p:txBody>
      </p:sp>
      <p:sp>
        <p:nvSpPr>
          <p:cNvPr id="219" name="Google Shape;219;p34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Override </a:t>
            </a:r>
            <a:r>
              <a:rPr lang="en-US" dirty="0" err="1"/>
              <a:t>onCreate</a:t>
            </a:r>
            <a:r>
              <a:rPr lang="en-US" b="0" dirty="0"/>
              <a:t>() method to create the table</a:t>
            </a:r>
            <a:endParaRPr dirty="0"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CA" dirty="0">
              <a:solidFill>
                <a:srgbClr val="BBB529"/>
              </a:solidFill>
              <a:effectLst/>
            </a:endParaRPr>
          </a:p>
          <a:p>
            <a:pPr marL="114300" indent="0">
              <a:buNone/>
            </a:pPr>
            <a:r>
              <a:rPr lang="en-CA" dirty="0">
                <a:solidFill>
                  <a:srgbClr val="BBB529"/>
                </a:solidFill>
                <a:effectLst/>
              </a:rPr>
              <a:t>@Override</a:t>
            </a:r>
            <a:br>
              <a:rPr lang="en-CA" dirty="0">
                <a:solidFill>
                  <a:srgbClr val="BBB529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public void </a:t>
            </a:r>
            <a:r>
              <a:rPr lang="en-CA" dirty="0" err="1">
                <a:solidFill>
                  <a:srgbClr val="FFC66D"/>
                </a:solidFill>
                <a:effectLst/>
              </a:rPr>
              <a:t>onCreate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SQLiteDatabase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 err="1">
                <a:solidFill>
                  <a:srgbClr val="A9B7C6"/>
                </a:solidFill>
                <a:effectLst/>
              </a:rPr>
              <a:t>db</a:t>
            </a:r>
            <a:r>
              <a:rPr lang="en-CA" dirty="0">
                <a:solidFill>
                  <a:srgbClr val="A9B7C6"/>
                </a:solidFill>
                <a:effectLst/>
              </a:rPr>
              <a:t>)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String CREATE_PRODUCTS_TABLE = </a:t>
            </a:r>
            <a:r>
              <a:rPr lang="en-CA" dirty="0">
                <a:solidFill>
                  <a:srgbClr val="6A8759"/>
                </a:solidFill>
                <a:effectLst/>
              </a:rPr>
              <a:t>"CREATE TABLE " </a:t>
            </a:r>
            <a:r>
              <a:rPr lang="en-CA" dirty="0">
                <a:solidFill>
                  <a:srgbClr val="A9B7C6"/>
                </a:solidFill>
                <a:effectLst/>
              </a:rPr>
              <a:t>+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        </a:t>
            </a:r>
            <a:r>
              <a:rPr lang="en-CA" i="1" dirty="0">
                <a:solidFill>
                  <a:srgbClr val="9876AA"/>
                </a:solidFill>
                <a:effectLst/>
              </a:rPr>
              <a:t>TABLE_PRODUCTS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dirty="0">
                <a:solidFill>
                  <a:srgbClr val="6A8759"/>
                </a:solidFill>
                <a:effectLst/>
              </a:rPr>
              <a:t>"("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        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COLUMN_ID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dirty="0">
                <a:solidFill>
                  <a:srgbClr val="6A8759"/>
                </a:solidFill>
                <a:effectLst/>
              </a:rPr>
              <a:t>" INTEGER PRIMARY KEY,"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COLUMN_PRODUCTNAME</a:t>
            </a:r>
            <a:br>
              <a:rPr lang="en-CA" i="1" dirty="0">
                <a:solidFill>
                  <a:srgbClr val="9876AA"/>
                </a:solidFill>
                <a:effectLst/>
              </a:rPr>
            </a:br>
            <a:r>
              <a:rPr lang="en-CA" i="1" dirty="0">
                <a:solidFill>
                  <a:srgbClr val="9876AA"/>
                </a:solidFill>
                <a:effectLst/>
              </a:rPr>
              <a:t>           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dirty="0">
                <a:solidFill>
                  <a:srgbClr val="6A8759"/>
                </a:solidFill>
                <a:effectLst/>
              </a:rPr>
              <a:t>" TEXT,"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i="1" dirty="0">
                <a:solidFill>
                  <a:srgbClr val="9876AA"/>
                </a:solidFill>
                <a:effectLst/>
              </a:rPr>
              <a:t>COLUMN_SKU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dirty="0">
                <a:solidFill>
                  <a:srgbClr val="6A8759"/>
                </a:solidFill>
                <a:effectLst/>
              </a:rPr>
              <a:t>" INTEGER"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dirty="0">
                <a:solidFill>
                  <a:srgbClr val="6A8759"/>
                </a:solidFill>
                <a:effectLst/>
              </a:rPr>
              <a:t>")"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</a:t>
            </a:r>
            <a:r>
              <a:rPr lang="en-CA" dirty="0" err="1">
                <a:solidFill>
                  <a:srgbClr val="A9B7C6"/>
                </a:solidFill>
                <a:effectLst/>
              </a:rPr>
              <a:t>db.execSQL</a:t>
            </a:r>
            <a:r>
              <a:rPr lang="en-CA" dirty="0">
                <a:solidFill>
                  <a:srgbClr val="A9B7C6"/>
                </a:solidFill>
                <a:effectLst/>
              </a:rPr>
              <a:t>(CREATE_PRODUCTS_TABLE)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226" name="Google Shape;226;p35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Override onUpgrade</a:t>
            </a:r>
            <a:r>
              <a:rPr lang="en-US" b="0"/>
              <a:t>() method to drop old tables and create new ones</a:t>
            </a:r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CA" dirty="0">
              <a:solidFill>
                <a:srgbClr val="BBB529"/>
              </a:solidFill>
              <a:effectLst/>
            </a:endParaRPr>
          </a:p>
          <a:p>
            <a:pPr marL="114300" indent="0">
              <a:buNone/>
            </a:pPr>
            <a:r>
              <a:rPr lang="en-CA" dirty="0">
                <a:solidFill>
                  <a:srgbClr val="BBB529"/>
                </a:solidFill>
                <a:effectLst/>
              </a:rPr>
              <a:t>@Override</a:t>
            </a:r>
            <a:br>
              <a:rPr lang="en-CA" dirty="0">
                <a:solidFill>
                  <a:srgbClr val="BBB529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public void </a:t>
            </a:r>
            <a:r>
              <a:rPr lang="en-CA" dirty="0" err="1">
                <a:solidFill>
                  <a:srgbClr val="FFC66D"/>
                </a:solidFill>
                <a:effectLst/>
              </a:rPr>
              <a:t>onUpgrade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SQLiteDatabase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 err="1">
                <a:solidFill>
                  <a:srgbClr val="A9B7C6"/>
                </a:solidFill>
                <a:effectLst/>
              </a:rPr>
              <a:t>db</a:t>
            </a:r>
            <a:r>
              <a:rPr lang="en-CA" dirty="0">
                <a:solidFill>
                  <a:srgbClr val="CC7832"/>
                </a:solidFill>
                <a:effectLst/>
              </a:rPr>
              <a:t>, int </a:t>
            </a:r>
            <a:r>
              <a:rPr lang="en-CA" dirty="0" err="1">
                <a:solidFill>
                  <a:srgbClr val="A9B7C6"/>
                </a:solidFill>
                <a:effectLst/>
              </a:rPr>
              <a:t>oldVersion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                int </a:t>
            </a:r>
            <a:r>
              <a:rPr lang="en-CA" dirty="0" err="1">
                <a:solidFill>
                  <a:srgbClr val="A9B7C6"/>
                </a:solidFill>
                <a:effectLst/>
              </a:rPr>
              <a:t>newVersion</a:t>
            </a:r>
            <a:r>
              <a:rPr lang="en-CA" dirty="0">
                <a:solidFill>
                  <a:srgbClr val="A9B7C6"/>
                </a:solidFill>
                <a:effectLst/>
              </a:rPr>
              <a:t>)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</a:t>
            </a:r>
            <a:r>
              <a:rPr lang="en-CA" dirty="0" err="1">
                <a:solidFill>
                  <a:srgbClr val="A9B7C6"/>
                </a:solidFill>
                <a:effectLst/>
              </a:rPr>
              <a:t>db.execSQL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"DROP TABLE IF EXISTS " </a:t>
            </a:r>
            <a:r>
              <a:rPr lang="en-CA" dirty="0">
                <a:solidFill>
                  <a:srgbClr val="A9B7C6"/>
                </a:solidFill>
                <a:effectLst/>
              </a:rPr>
              <a:t>+ </a:t>
            </a:r>
            <a:r>
              <a:rPr lang="en-CA" i="1" dirty="0">
                <a:solidFill>
                  <a:srgbClr val="9876AA"/>
                </a:solidFill>
                <a:effectLst/>
              </a:rPr>
              <a:t>TABLE_PRODUCTS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</a:t>
            </a:r>
            <a:r>
              <a:rPr lang="en-CA" dirty="0" err="1">
                <a:solidFill>
                  <a:srgbClr val="A9B7C6"/>
                </a:solidFill>
                <a:effectLst/>
              </a:rPr>
              <a:t>onCreate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db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</a:p>
        </p:txBody>
      </p:sp>
      <p:sp>
        <p:nvSpPr>
          <p:cNvPr id="234" name="Google Shape;234;p36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Inserting into Database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Create a method to add to a database</a:t>
            </a: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CA" sz="1800" dirty="0">
                <a:solidFill>
                  <a:srgbClr val="CC7832"/>
                </a:solidFill>
                <a:effectLst/>
              </a:rPr>
              <a:t>	public void </a:t>
            </a:r>
            <a:r>
              <a:rPr lang="en-CA" sz="1800" dirty="0" err="1">
                <a:solidFill>
                  <a:srgbClr val="FFC66D"/>
                </a:solidFill>
                <a:effectLst/>
              </a:rPr>
              <a:t>addProduct</a:t>
            </a:r>
            <a:r>
              <a:rPr lang="en-CA" sz="1800" dirty="0">
                <a:solidFill>
                  <a:srgbClr val="A9B7C6"/>
                </a:solidFill>
                <a:effectLst/>
              </a:rPr>
              <a:t>(Product product){}</a:t>
            </a:r>
            <a:endParaRPr sz="18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Get the data repository in write mode</a:t>
            </a:r>
          </a:p>
          <a:p>
            <a:pPr marL="0" indent="0">
              <a:spcBef>
                <a:spcPts val="400"/>
              </a:spcBef>
              <a:buSzPts val="2000"/>
              <a:buNone/>
            </a:pPr>
            <a:r>
              <a:rPr lang="en-CA" sz="1800" dirty="0">
                <a:solidFill>
                  <a:srgbClr val="A9B7C6"/>
                </a:solidFill>
                <a:effectLst/>
              </a:rPr>
              <a:t>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SQLiteDatabase</a:t>
            </a:r>
            <a:r>
              <a:rPr lang="en-CA" sz="1800" dirty="0">
                <a:solidFill>
                  <a:srgbClr val="A9B7C6"/>
                </a:solidFill>
                <a:effectLst/>
              </a:rPr>
              <a:t> 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db</a:t>
            </a:r>
            <a:r>
              <a:rPr lang="en-CA" sz="1800" dirty="0">
                <a:solidFill>
                  <a:srgbClr val="A9B7C6"/>
                </a:solidFill>
                <a:effectLst/>
              </a:rPr>
              <a:t> = </a:t>
            </a:r>
            <a:r>
              <a:rPr lang="en-CA" sz="1800" dirty="0" err="1">
                <a:solidFill>
                  <a:srgbClr val="CC7832"/>
                </a:solidFill>
                <a:effectLst/>
              </a:rPr>
              <a:t>this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.getWritableDatabase</a:t>
            </a:r>
            <a:r>
              <a:rPr lang="en-CA" sz="1800" dirty="0">
                <a:solidFill>
                  <a:srgbClr val="A9B7C6"/>
                </a:solidFill>
                <a:effectLst/>
              </a:rPr>
              <a:t>()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endParaRPr sz="18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Creating a new map of values, where column names are the keys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800" dirty="0">
                <a:solidFill>
                  <a:srgbClr val="A9B7C6"/>
                </a:solidFill>
                <a:effectLst/>
              </a:rPr>
              <a:t>	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ContentValues</a:t>
            </a:r>
            <a:r>
              <a:rPr lang="en-CA" sz="1800" dirty="0">
                <a:solidFill>
                  <a:srgbClr val="A9B7C6"/>
                </a:solidFill>
                <a:effectLst/>
              </a:rPr>
              <a:t> values = </a:t>
            </a:r>
            <a:r>
              <a:rPr lang="en-CA" sz="1800" dirty="0">
                <a:solidFill>
                  <a:srgbClr val="CC7832"/>
                </a:solidFill>
                <a:effectLst/>
              </a:rPr>
              <a:t>new 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ContentValues</a:t>
            </a:r>
            <a:r>
              <a:rPr lang="en-CA" sz="1800" dirty="0">
                <a:solidFill>
                  <a:srgbClr val="A9B7C6"/>
                </a:solidFill>
                <a:effectLst/>
              </a:rPr>
              <a:t>()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br>
              <a:rPr lang="en-CA" sz="1800" dirty="0">
                <a:solidFill>
                  <a:srgbClr val="CC7832"/>
                </a:solidFill>
                <a:effectLst/>
              </a:rPr>
            </a:br>
            <a:r>
              <a:rPr lang="en-CA" sz="1800" dirty="0">
                <a:solidFill>
                  <a:srgbClr val="CC7832"/>
                </a:solidFill>
                <a:effectLst/>
              </a:rPr>
              <a:t>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values.put</a:t>
            </a:r>
            <a:r>
              <a:rPr lang="en-CA" sz="1800" dirty="0">
                <a:solidFill>
                  <a:srgbClr val="A9B7C6"/>
                </a:solidFill>
                <a:effectLst/>
              </a:rPr>
              <a:t>(</a:t>
            </a:r>
            <a:r>
              <a:rPr lang="en-CA" sz="1800" i="1" dirty="0">
                <a:solidFill>
                  <a:srgbClr val="9876AA"/>
                </a:solidFill>
                <a:effectLst/>
              </a:rPr>
              <a:t>COLUMN_PRODUCTNAME</a:t>
            </a:r>
            <a:r>
              <a:rPr lang="en-CA" sz="1800" dirty="0">
                <a:solidFill>
                  <a:srgbClr val="CC7832"/>
                </a:solidFill>
                <a:effectLst/>
              </a:rPr>
              <a:t>, 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product.getProductName</a:t>
            </a:r>
            <a:r>
              <a:rPr lang="en-CA" sz="1800" dirty="0">
                <a:solidFill>
                  <a:srgbClr val="A9B7C6"/>
                </a:solidFill>
                <a:effectLst/>
              </a:rPr>
              <a:t>())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br>
              <a:rPr lang="en-CA" sz="1800" dirty="0">
                <a:solidFill>
                  <a:srgbClr val="CC7832"/>
                </a:solidFill>
                <a:effectLst/>
              </a:rPr>
            </a:br>
            <a:r>
              <a:rPr lang="en-CA" sz="1800" dirty="0">
                <a:solidFill>
                  <a:srgbClr val="CC7832"/>
                </a:solidFill>
                <a:effectLst/>
              </a:rPr>
              <a:t>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values.put</a:t>
            </a:r>
            <a:r>
              <a:rPr lang="en-CA" sz="1800" dirty="0">
                <a:solidFill>
                  <a:srgbClr val="A9B7C6"/>
                </a:solidFill>
                <a:effectLst/>
              </a:rPr>
              <a:t>(</a:t>
            </a:r>
            <a:r>
              <a:rPr lang="en-CA" sz="1800" i="1" dirty="0">
                <a:solidFill>
                  <a:srgbClr val="9876AA"/>
                </a:solidFill>
                <a:effectLst/>
              </a:rPr>
              <a:t>COLUMN_SKU</a:t>
            </a:r>
            <a:r>
              <a:rPr lang="en-CA" sz="1800" dirty="0">
                <a:solidFill>
                  <a:srgbClr val="CC7832"/>
                </a:solidFill>
                <a:effectLst/>
              </a:rPr>
              <a:t>, 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product.getSku</a:t>
            </a:r>
            <a:r>
              <a:rPr lang="en-CA" sz="1800" dirty="0">
                <a:solidFill>
                  <a:srgbClr val="A9B7C6"/>
                </a:solidFill>
                <a:effectLst/>
              </a:rPr>
              <a:t>())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endParaRPr sz="18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Insert</a:t>
            </a:r>
          </a:p>
          <a:p>
            <a:pPr marL="0" indent="0">
              <a:spcBef>
                <a:spcPts val="400"/>
              </a:spcBef>
              <a:buSzPts val="2000"/>
              <a:buNone/>
            </a:pPr>
            <a:r>
              <a:rPr lang="en-CA" sz="1800" dirty="0">
                <a:solidFill>
                  <a:srgbClr val="A9B7C6"/>
                </a:solidFill>
                <a:effectLst/>
              </a:rPr>
              <a:t>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db.insert</a:t>
            </a:r>
            <a:r>
              <a:rPr lang="en-CA" sz="1800" dirty="0">
                <a:solidFill>
                  <a:srgbClr val="A9B7C6"/>
                </a:solidFill>
                <a:effectLst/>
              </a:rPr>
              <a:t>(</a:t>
            </a:r>
            <a:r>
              <a:rPr lang="en-CA" sz="1800" i="1" dirty="0">
                <a:solidFill>
                  <a:srgbClr val="9876AA"/>
                </a:solidFill>
                <a:effectLst/>
              </a:rPr>
              <a:t>TABLE_PRODUCTS</a:t>
            </a:r>
            <a:r>
              <a:rPr lang="en-CA" sz="1800" dirty="0">
                <a:solidFill>
                  <a:srgbClr val="CC7832"/>
                </a:solidFill>
                <a:effectLst/>
              </a:rPr>
              <a:t>, null, </a:t>
            </a:r>
            <a:r>
              <a:rPr lang="en-CA" sz="1800" dirty="0">
                <a:solidFill>
                  <a:srgbClr val="A9B7C6"/>
                </a:solidFill>
                <a:effectLst/>
              </a:rPr>
              <a:t>values)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endParaRPr sz="18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Close</a:t>
            </a:r>
          </a:p>
          <a:p>
            <a:pPr marL="457200" lvl="1" indent="0">
              <a:spcBef>
                <a:spcPts val="400"/>
              </a:spcBef>
              <a:buSzPts val="2000"/>
              <a:buNone/>
            </a:pPr>
            <a:r>
              <a:rPr lang="en-CA" sz="1800" dirty="0">
                <a:solidFill>
                  <a:srgbClr val="A9B7C6"/>
                </a:solidFill>
                <a:effectLst/>
              </a:rPr>
              <a:t>	</a:t>
            </a:r>
            <a:r>
              <a:rPr lang="en-CA" sz="1800" dirty="0" err="1">
                <a:solidFill>
                  <a:srgbClr val="A9B7C6"/>
                </a:solidFill>
                <a:effectLst/>
              </a:rPr>
              <a:t>db.close</a:t>
            </a:r>
            <a:r>
              <a:rPr lang="en-CA" sz="1800" dirty="0">
                <a:solidFill>
                  <a:srgbClr val="A9B7C6"/>
                </a:solidFill>
                <a:effectLst/>
              </a:rPr>
              <a:t>()</a:t>
            </a:r>
            <a:r>
              <a:rPr lang="en-CA" sz="1800" dirty="0">
                <a:solidFill>
                  <a:srgbClr val="CC7832"/>
                </a:solidFill>
                <a:effectLst/>
              </a:rPr>
              <a:t>;</a:t>
            </a:r>
            <a:endParaRPr lang="en-CA" sz="1800" dirty="0">
              <a:solidFill>
                <a:srgbClr val="A9B7C6"/>
              </a:solidFill>
              <a:effectLst/>
            </a:endParaRPr>
          </a:p>
        </p:txBody>
      </p:sp>
      <p:sp>
        <p:nvSpPr>
          <p:cNvPr id="242" name="Google Shape;242;p37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from a Database</a:t>
            </a:r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body" idx="1"/>
          </p:nvPr>
        </p:nvSpPr>
        <p:spPr>
          <a:xfrm>
            <a:off x="527381" y="1403226"/>
            <a:ext cx="10945216" cy="530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Create a method to read from a database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CC7832"/>
                </a:solidFill>
                <a:effectLst/>
              </a:rPr>
              <a:t>	public </a:t>
            </a:r>
            <a:r>
              <a:rPr lang="en-CA" sz="1200" dirty="0">
                <a:solidFill>
                  <a:srgbClr val="A9B7C6"/>
                </a:solidFill>
                <a:effectLst/>
              </a:rPr>
              <a:t>Product </a:t>
            </a:r>
            <a:r>
              <a:rPr lang="en-CA" sz="1200" dirty="0" err="1">
                <a:solidFill>
                  <a:srgbClr val="FFC66D"/>
                </a:solidFill>
                <a:effectLst/>
              </a:rPr>
              <a:t>findProduct</a:t>
            </a:r>
            <a:r>
              <a:rPr lang="en-CA" sz="1200" dirty="0">
                <a:solidFill>
                  <a:srgbClr val="A9B7C6"/>
                </a:solidFill>
                <a:effectLst/>
              </a:rPr>
              <a:t>(String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) {}</a:t>
            </a:r>
            <a:endParaRPr sz="12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endParaRPr lang="en-US"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Getting reference to readable database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A9B7C6"/>
                </a:solidFill>
                <a:effectLst/>
              </a:rPr>
              <a:t>	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SQLiteDatabase</a:t>
            </a:r>
            <a:r>
              <a:rPr lang="en-CA" sz="1200" dirty="0">
                <a:solidFill>
                  <a:srgbClr val="A9B7C6"/>
                </a:solidFill>
                <a:effectLst/>
              </a:rPr>
              <a:t>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db</a:t>
            </a:r>
            <a:r>
              <a:rPr lang="en-CA" sz="1200" dirty="0">
                <a:solidFill>
                  <a:srgbClr val="A9B7C6"/>
                </a:solidFill>
                <a:effectLst/>
              </a:rPr>
              <a:t> = </a:t>
            </a:r>
            <a:r>
              <a:rPr lang="en-CA" sz="1200" dirty="0" err="1">
                <a:solidFill>
                  <a:srgbClr val="CC7832"/>
                </a:solidFill>
                <a:effectLst/>
              </a:rPr>
              <a:t>this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.getReadableDatabase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endParaRPr lang="en-CA" sz="1200" dirty="0">
              <a:solidFill>
                <a:srgbClr val="A9B7C6"/>
              </a:solidFill>
            </a:endParaRPr>
          </a:p>
          <a:p>
            <a:pPr marL="342900" indent="-215900">
              <a:spcBef>
                <a:spcPts val="400"/>
              </a:spcBef>
              <a:buSzPts val="2000"/>
              <a:buNone/>
            </a:pPr>
            <a:endParaRPr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Run your query</a:t>
            </a:r>
            <a:endParaRPr lang="en-CA"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800" dirty="0">
                <a:solidFill>
                  <a:srgbClr val="A9B7C6"/>
                </a:solidFill>
                <a:effectLst/>
              </a:rPr>
              <a:t>	</a:t>
            </a:r>
            <a:r>
              <a:rPr lang="en-CA" sz="1200" dirty="0">
                <a:solidFill>
                  <a:srgbClr val="A9B7C6"/>
                </a:solidFill>
                <a:effectLst/>
              </a:rPr>
              <a:t>String query = </a:t>
            </a:r>
            <a:r>
              <a:rPr lang="en-CA" sz="1200" dirty="0">
                <a:solidFill>
                  <a:srgbClr val="6A8759"/>
                </a:solidFill>
                <a:effectLst/>
              </a:rPr>
              <a:t>"Select * FROM 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TABLE_PRODUCTS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 WHERE 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COLUMN_PRODUCTNAME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\"</a:t>
            </a:r>
            <a:r>
              <a:rPr lang="en-CA" sz="1200" dirty="0">
                <a:solidFill>
                  <a:srgbClr val="6A8759"/>
                </a:solidFill>
                <a:effectLst/>
              </a:rPr>
              <a:t>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 +</a:t>
            </a:r>
            <a:r>
              <a:rPr lang="en-CA" sz="1200" dirty="0">
                <a:solidFill>
                  <a:srgbClr val="6A8759"/>
                </a:solidFill>
                <a:effectLst/>
              </a:rPr>
              <a:t>"</a:t>
            </a:r>
            <a:r>
              <a:rPr lang="en-CA" sz="1200" dirty="0">
                <a:solidFill>
                  <a:srgbClr val="CC7832"/>
                </a:solidFill>
                <a:effectLst/>
              </a:rPr>
              <a:t>\"</a:t>
            </a:r>
            <a:r>
              <a:rPr lang="en-CA" sz="1200" dirty="0">
                <a:solidFill>
                  <a:srgbClr val="6A8759"/>
                </a:solidFill>
                <a:effectLst/>
              </a:rPr>
              <a:t>"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Cursor cursor =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db.rawQuery</a:t>
            </a:r>
            <a:r>
              <a:rPr lang="en-CA" sz="1200" dirty="0">
                <a:solidFill>
                  <a:srgbClr val="A9B7C6"/>
                </a:solidFill>
                <a:effectLst/>
              </a:rPr>
              <a:t>(query</a:t>
            </a:r>
            <a:r>
              <a:rPr lang="en-CA" sz="1200" dirty="0">
                <a:solidFill>
                  <a:srgbClr val="CC7832"/>
                </a:solidFill>
                <a:effectLst/>
              </a:rPr>
              <a:t>, null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endParaRPr lang="en-CA" sz="1200"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Create object and then to get results</a:t>
            </a:r>
          </a:p>
          <a:p>
            <a:pPr marL="457200" lvl="1" indent="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A9B7C6"/>
                </a:solidFill>
                <a:effectLst/>
              </a:rPr>
              <a:t>Product product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new </a:t>
            </a:r>
            <a:r>
              <a:rPr lang="en-CA" sz="1200" dirty="0">
                <a:solidFill>
                  <a:srgbClr val="A9B7C6"/>
                </a:solidFill>
                <a:effectLst/>
              </a:rPr>
              <a:t>Product()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if 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cursor.moveToFirst</a:t>
            </a:r>
            <a:r>
              <a:rPr lang="en-CA" sz="1200" dirty="0">
                <a:solidFill>
                  <a:srgbClr val="A9B7C6"/>
                </a:solidFill>
                <a:effectLst/>
              </a:rPr>
              <a:t>())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product.setID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Integer.</a:t>
            </a:r>
            <a:r>
              <a:rPr lang="en-CA" sz="1200" i="1" dirty="0" err="1">
                <a:solidFill>
                  <a:srgbClr val="A9B7C6"/>
                </a:solidFill>
                <a:effectLst/>
              </a:rPr>
              <a:t>parseInt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cursor.getString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897BB"/>
                </a:solidFill>
                <a:effectLst/>
              </a:rPr>
              <a:t>0</a:t>
            </a:r>
            <a:r>
              <a:rPr lang="en-CA" sz="1200" dirty="0">
                <a:solidFill>
                  <a:srgbClr val="A9B7C6"/>
                </a:solidFill>
                <a:effectLst/>
              </a:rPr>
              <a:t>)))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product.setProductName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cursor.getString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897BB"/>
                </a:solidFill>
                <a:effectLst/>
              </a:rPr>
              <a:t>1</a:t>
            </a:r>
            <a:r>
              <a:rPr lang="en-CA" sz="1200" dirty="0">
                <a:solidFill>
                  <a:srgbClr val="A9B7C6"/>
                </a:solidFill>
                <a:effectLst/>
              </a:rPr>
              <a:t>))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product.setSku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Integer.</a:t>
            </a:r>
            <a:r>
              <a:rPr lang="en-CA" sz="1200" i="1" dirty="0" err="1">
                <a:solidFill>
                  <a:srgbClr val="A9B7C6"/>
                </a:solidFill>
                <a:effectLst/>
              </a:rPr>
              <a:t>parseInt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cursor.getString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897BB"/>
                </a:solidFill>
                <a:effectLst/>
              </a:rPr>
              <a:t>2</a:t>
            </a:r>
            <a:r>
              <a:rPr lang="en-CA" sz="1200" dirty="0">
                <a:solidFill>
                  <a:srgbClr val="A9B7C6"/>
                </a:solidFill>
                <a:effectLst/>
              </a:rPr>
              <a:t>)))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} </a:t>
            </a:r>
            <a:r>
              <a:rPr lang="en-CA" sz="1200" dirty="0">
                <a:solidFill>
                  <a:srgbClr val="CC7832"/>
                </a:solidFill>
                <a:effectLst/>
              </a:rPr>
              <a:t>else </a:t>
            </a:r>
            <a:r>
              <a:rPr lang="en-CA" sz="1200" dirty="0">
                <a:solidFill>
                  <a:srgbClr val="A9B7C6"/>
                </a:solidFill>
                <a:effectLst/>
              </a:rPr>
              <a:t>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product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null;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}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 err="1">
                <a:solidFill>
                  <a:srgbClr val="A9B7C6"/>
                </a:solidFill>
                <a:effectLst/>
              </a:rPr>
              <a:t>db.close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return </a:t>
            </a:r>
            <a:r>
              <a:rPr lang="en-CA" sz="1200" dirty="0">
                <a:solidFill>
                  <a:srgbClr val="A9B7C6"/>
                </a:solidFill>
                <a:effectLst/>
              </a:rPr>
              <a:t>product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endParaRPr lang="en-CA" sz="1200" dirty="0">
              <a:solidFill>
                <a:srgbClr val="A9B7C6"/>
              </a:solidFill>
              <a:effectLst/>
            </a:endParaRPr>
          </a:p>
        </p:txBody>
      </p:sp>
      <p:sp>
        <p:nvSpPr>
          <p:cNvPr id="255" name="Google Shape;255;p38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Deleting Info from the database</a:t>
            </a:r>
            <a:endParaRPr/>
          </a:p>
        </p:txBody>
      </p:sp>
      <p:sp>
        <p:nvSpPr>
          <p:cNvPr id="267" name="Google Shape;267;p39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Create a method to delete information from the database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CC7832"/>
                </a:solidFill>
                <a:effectLst/>
              </a:rPr>
              <a:t>	public </a:t>
            </a:r>
            <a:r>
              <a:rPr lang="en-CA" sz="1200" dirty="0" err="1">
                <a:solidFill>
                  <a:srgbClr val="CC7832"/>
                </a:solidFill>
                <a:effectLst/>
              </a:rPr>
              <a:t>boolean</a:t>
            </a:r>
            <a:r>
              <a:rPr lang="en-CA" sz="1200" dirty="0">
                <a:solidFill>
                  <a:srgbClr val="CC7832"/>
                </a:solidFill>
                <a:effectLst/>
              </a:rPr>
              <a:t> </a:t>
            </a:r>
            <a:r>
              <a:rPr lang="en-CA" sz="1200" dirty="0" err="1">
                <a:solidFill>
                  <a:srgbClr val="FFC66D"/>
                </a:solidFill>
                <a:effectLst/>
              </a:rPr>
              <a:t>deleteProduct</a:t>
            </a:r>
            <a:r>
              <a:rPr lang="en-CA" sz="1200" dirty="0">
                <a:solidFill>
                  <a:srgbClr val="A9B7C6"/>
                </a:solidFill>
                <a:effectLst/>
              </a:rPr>
              <a:t>(String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) {}</a:t>
            </a:r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Declare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CC7832"/>
                </a:solidFill>
                <a:effectLst/>
              </a:rPr>
              <a:t>	</a:t>
            </a:r>
            <a:r>
              <a:rPr lang="en-CA" sz="1200" dirty="0" err="1">
                <a:solidFill>
                  <a:srgbClr val="CC7832"/>
                </a:solidFill>
                <a:effectLst/>
              </a:rPr>
              <a:t>boolean</a:t>
            </a:r>
            <a:r>
              <a:rPr lang="en-CA" sz="1200" dirty="0">
                <a:solidFill>
                  <a:srgbClr val="CC7832"/>
                </a:solidFill>
                <a:effectLst/>
              </a:rPr>
              <a:t> </a:t>
            </a:r>
            <a:r>
              <a:rPr lang="en-CA" sz="1200" dirty="0">
                <a:solidFill>
                  <a:srgbClr val="A9B7C6"/>
                </a:solidFill>
                <a:effectLst/>
              </a:rPr>
              <a:t>result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false;</a:t>
            </a:r>
            <a:endParaRPr lang="en-CA" sz="1200" dirty="0">
              <a:solidFill>
                <a:srgbClr val="A9B7C6"/>
              </a:solidFill>
            </a:endParaRPr>
          </a:p>
          <a:p>
            <a:pPr marL="342900" indent="-215900">
              <a:spcBef>
                <a:spcPts val="400"/>
              </a:spcBef>
              <a:buSzPts val="2000"/>
              <a:buNone/>
            </a:pPr>
            <a:endParaRPr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Getting reference to writable database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 err="1">
                <a:solidFill>
                  <a:srgbClr val="A9B7C6"/>
                </a:solidFill>
                <a:effectLst/>
              </a:rPr>
              <a:t>SQLiteDatabase</a:t>
            </a:r>
            <a:r>
              <a:rPr lang="en-CA" sz="1200" dirty="0">
                <a:solidFill>
                  <a:srgbClr val="A9B7C6"/>
                </a:solidFill>
                <a:effectLst/>
              </a:rPr>
              <a:t>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db</a:t>
            </a:r>
            <a:r>
              <a:rPr lang="en-CA" sz="1200" dirty="0">
                <a:solidFill>
                  <a:srgbClr val="A9B7C6"/>
                </a:solidFill>
                <a:effectLst/>
              </a:rPr>
              <a:t> = </a:t>
            </a:r>
            <a:r>
              <a:rPr lang="en-CA" sz="1200" dirty="0" err="1">
                <a:solidFill>
                  <a:srgbClr val="CC7832"/>
                </a:solidFill>
                <a:effectLst/>
              </a:rPr>
              <a:t>this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.getWritableDatabase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endParaRPr lang="en-CA" sz="1200" dirty="0">
              <a:solidFill>
                <a:srgbClr val="CC7832"/>
              </a:solidFill>
            </a:endParaRPr>
          </a:p>
          <a:p>
            <a:pPr marL="342900" indent="-215900">
              <a:spcBef>
                <a:spcPts val="400"/>
              </a:spcBef>
              <a:buSzPts val="2000"/>
              <a:buNone/>
            </a:pPr>
            <a:endParaRPr sz="7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sz="1800" dirty="0"/>
              <a:t>Run your query and delete</a:t>
            </a:r>
            <a:endParaRPr sz="1800" dirty="0"/>
          </a:p>
          <a:p>
            <a:pPr marL="342900" indent="-215900">
              <a:spcBef>
                <a:spcPts val="400"/>
              </a:spcBef>
              <a:buSzPts val="2000"/>
              <a:buNone/>
            </a:pPr>
            <a:r>
              <a:rPr lang="en-CA" sz="1200" dirty="0">
                <a:solidFill>
                  <a:srgbClr val="A9B7C6"/>
                </a:solidFill>
                <a:effectLst/>
              </a:rPr>
              <a:t>String query = </a:t>
            </a:r>
            <a:r>
              <a:rPr lang="en-CA" sz="1200" dirty="0">
                <a:solidFill>
                  <a:srgbClr val="6A8759"/>
                </a:solidFill>
                <a:effectLst/>
              </a:rPr>
              <a:t>"Select * FROM 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TABLE_PRODUCTS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 WHERE 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COLUMN_PRODUCTNAME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\"</a:t>
            </a:r>
            <a:r>
              <a:rPr lang="en-CA" sz="1200" dirty="0">
                <a:solidFill>
                  <a:srgbClr val="6A8759"/>
                </a:solidFill>
                <a:effectLst/>
              </a:rPr>
              <a:t>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productname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 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</a:t>
            </a:r>
            <a:r>
              <a:rPr lang="en-CA" sz="1200" dirty="0">
                <a:solidFill>
                  <a:srgbClr val="CC7832"/>
                </a:solidFill>
                <a:effectLst/>
              </a:rPr>
              <a:t>\"</a:t>
            </a:r>
            <a:r>
              <a:rPr lang="en-CA" sz="1200" dirty="0">
                <a:solidFill>
                  <a:srgbClr val="6A8759"/>
                </a:solidFill>
                <a:effectLst/>
              </a:rPr>
              <a:t>"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Cursor cursor =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db.rawQuery</a:t>
            </a:r>
            <a:r>
              <a:rPr lang="en-CA" sz="1200" dirty="0">
                <a:solidFill>
                  <a:srgbClr val="A9B7C6"/>
                </a:solidFill>
                <a:effectLst/>
              </a:rPr>
              <a:t>(query</a:t>
            </a:r>
            <a:r>
              <a:rPr lang="en-CA" sz="1200" dirty="0">
                <a:solidFill>
                  <a:srgbClr val="CC7832"/>
                </a:solidFill>
                <a:effectLst/>
              </a:rPr>
              <a:t>, null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if 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cursor.moveToFirst</a:t>
            </a:r>
            <a:r>
              <a:rPr lang="en-CA" sz="1200" dirty="0">
                <a:solidFill>
                  <a:srgbClr val="A9B7C6"/>
                </a:solidFill>
                <a:effectLst/>
              </a:rPr>
              <a:t>())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String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idStr</a:t>
            </a:r>
            <a:r>
              <a:rPr lang="en-CA" sz="1200" dirty="0">
                <a:solidFill>
                  <a:srgbClr val="A9B7C6"/>
                </a:solidFill>
                <a:effectLst/>
              </a:rPr>
              <a:t> =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cursor.getString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897BB"/>
                </a:solidFill>
                <a:effectLst/>
              </a:rPr>
              <a:t>0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db.delete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TABLE_PRODUCTS</a:t>
            </a:r>
            <a:r>
              <a:rPr lang="en-CA" sz="1200" dirty="0">
                <a:solidFill>
                  <a:srgbClr val="CC7832"/>
                </a:solidFill>
                <a:effectLst/>
              </a:rPr>
              <a:t>, </a:t>
            </a:r>
            <a:r>
              <a:rPr lang="en-CA" sz="1200" i="1" dirty="0">
                <a:solidFill>
                  <a:srgbClr val="9876AA"/>
                </a:solidFill>
                <a:effectLst/>
              </a:rPr>
              <a:t>COLUMN_ID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>
                <a:solidFill>
                  <a:srgbClr val="6A8759"/>
                </a:solidFill>
                <a:effectLst/>
              </a:rPr>
              <a:t>" = " </a:t>
            </a:r>
            <a:r>
              <a:rPr lang="en-CA" sz="1200" dirty="0">
                <a:solidFill>
                  <a:srgbClr val="A9B7C6"/>
                </a:solidFill>
                <a:effectLst/>
              </a:rPr>
              <a:t>+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idStr</a:t>
            </a:r>
            <a:r>
              <a:rPr lang="en-CA" sz="1200" dirty="0">
                <a:solidFill>
                  <a:srgbClr val="CC7832"/>
                </a:solidFill>
                <a:effectLst/>
              </a:rPr>
              <a:t>, null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cursor.close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result = </a:t>
            </a:r>
            <a:r>
              <a:rPr lang="en-CA" sz="1200" dirty="0">
                <a:solidFill>
                  <a:srgbClr val="CC7832"/>
                </a:solidFill>
                <a:effectLst/>
              </a:rPr>
              <a:t>true;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}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 err="1">
                <a:solidFill>
                  <a:srgbClr val="A9B7C6"/>
                </a:solidFill>
                <a:effectLst/>
              </a:rPr>
              <a:t>db.close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return </a:t>
            </a:r>
            <a:r>
              <a:rPr lang="en-CA" sz="1200" dirty="0">
                <a:solidFill>
                  <a:srgbClr val="A9B7C6"/>
                </a:solidFill>
                <a:effectLst/>
              </a:rPr>
              <a:t>result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endParaRPr lang="en-CA" sz="1200" dirty="0">
              <a:solidFill>
                <a:srgbClr val="A9B7C6"/>
              </a:solidFill>
              <a:effectLst/>
            </a:endParaRPr>
          </a:p>
        </p:txBody>
      </p:sp>
      <p:sp>
        <p:nvSpPr>
          <p:cNvPr id="268" name="Google Shape;268;p39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>
            <a:spLocks noGrp="1"/>
          </p:cNvSpPr>
          <p:nvPr>
            <p:ph type="title"/>
          </p:nvPr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 Steps</a:t>
            </a:r>
            <a:endParaRPr dirty="0"/>
          </a:p>
        </p:txBody>
      </p:sp>
      <p:sp>
        <p:nvSpPr>
          <p:cNvPr id="279" name="Google Shape;279;p40"/>
          <p:cNvSpPr txBox="1">
            <a:spLocks noGrp="1"/>
          </p:cNvSpPr>
          <p:nvPr>
            <p:ph type="body" idx="1"/>
          </p:nvPr>
        </p:nvSpPr>
        <p:spPr>
          <a:xfrm>
            <a:off x="527381" y="1700808"/>
            <a:ext cx="10945216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dirty="0"/>
              <a:t>Call </a:t>
            </a:r>
            <a:r>
              <a:rPr lang="en-US" dirty="0" err="1"/>
              <a:t>addProduct</a:t>
            </a:r>
            <a:r>
              <a:rPr lang="en-US" dirty="0"/>
              <a:t> in Main in the method </a:t>
            </a:r>
            <a:r>
              <a:rPr lang="en-US" dirty="0" err="1"/>
              <a:t>newProduct</a:t>
            </a:r>
            <a:r>
              <a:rPr lang="en-US" dirty="0"/>
              <a:t> to finish adding to the database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dirty="0"/>
              <a:t>Call </a:t>
            </a:r>
            <a:r>
              <a:rPr lang="en-US" dirty="0" err="1"/>
              <a:t>findProduct</a:t>
            </a:r>
            <a:r>
              <a:rPr lang="en-US" dirty="0"/>
              <a:t> in Main in the method </a:t>
            </a:r>
            <a:r>
              <a:rPr lang="en-US" dirty="0" err="1"/>
              <a:t>lookupProduct</a:t>
            </a:r>
            <a:r>
              <a:rPr lang="en-US" dirty="0"/>
              <a:t> to read from the database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lang="en-US" dirty="0"/>
              <a:t>Call </a:t>
            </a:r>
            <a:r>
              <a:rPr lang="en-US" dirty="0" err="1"/>
              <a:t>removeProduct</a:t>
            </a:r>
            <a:r>
              <a:rPr lang="en-US" dirty="0"/>
              <a:t> in Main in the method </a:t>
            </a:r>
            <a:r>
              <a:rPr lang="en-US" dirty="0" err="1"/>
              <a:t>deleteProduct</a:t>
            </a:r>
            <a:r>
              <a:rPr lang="en-US" dirty="0"/>
              <a:t> to delete from the database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</p:txBody>
      </p:sp>
      <p:sp>
        <p:nvSpPr>
          <p:cNvPr id="280" name="Google Shape;280;p40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dirty="0"/>
              <a:t>14</a:t>
            </a:fld>
            <a:endParaRPr dirty="0"/>
          </a:p>
        </p:txBody>
      </p:sp>
      <p:sp>
        <p:nvSpPr>
          <p:cNvPr id="281" name="Google Shape;281;p40"/>
          <p:cNvSpPr txBox="1"/>
          <p:nvPr/>
        </p:nvSpPr>
        <p:spPr>
          <a:xfrm>
            <a:off x="4378036" y="1870364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40"/>
          <p:cNvSpPr txBox="1"/>
          <p:nvPr/>
        </p:nvSpPr>
        <p:spPr>
          <a:xfrm>
            <a:off x="2136846" y="5622204"/>
            <a:ext cx="184731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3" name="Google Shape;283;p40"/>
          <p:cNvSpPr/>
          <p:nvPr/>
        </p:nvSpPr>
        <p:spPr>
          <a:xfrm>
            <a:off x="706582" y="292965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8270E-B440-2CB3-F053-D95C766193CC}"/>
              </a:ext>
            </a:extLst>
          </p:cNvPr>
          <p:cNvSpPr txBox="1"/>
          <p:nvPr/>
        </p:nvSpPr>
        <p:spPr>
          <a:xfrm>
            <a:off x="948381" y="2342208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 err="1">
                <a:solidFill>
                  <a:srgbClr val="A9B7C6"/>
                </a:solidFill>
                <a:effectLst/>
              </a:rPr>
              <a:t>dbHandler</a:t>
            </a:r>
            <a:r>
              <a:rPr lang="en-CA" dirty="0">
                <a:solidFill>
                  <a:srgbClr val="A9B7C6"/>
                </a:solidFill>
                <a:effectLst/>
              </a:rPr>
              <a:t> = </a:t>
            </a:r>
            <a:r>
              <a:rPr lang="en-CA" dirty="0">
                <a:solidFill>
                  <a:srgbClr val="CC7832"/>
                </a:solidFill>
                <a:effectLst/>
              </a:rPr>
              <a:t>new </a:t>
            </a:r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CC7832"/>
                </a:solidFill>
                <a:effectLst/>
              </a:rPr>
              <a:t>this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 err="1">
                <a:solidFill>
                  <a:srgbClr val="A9B7C6"/>
                </a:solidFill>
                <a:effectLst/>
              </a:rPr>
              <a:t>dbHandler.addProduct</a:t>
            </a:r>
            <a:r>
              <a:rPr lang="en-CA" dirty="0">
                <a:solidFill>
                  <a:srgbClr val="A9B7C6"/>
                </a:solidFill>
                <a:effectLst/>
              </a:rPr>
              <a:t>(product)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B156A-D795-BA58-30F5-FB025ACA9C50}"/>
              </a:ext>
            </a:extLst>
          </p:cNvPr>
          <p:cNvSpPr txBox="1"/>
          <p:nvPr/>
        </p:nvSpPr>
        <p:spPr>
          <a:xfrm>
            <a:off x="948381" y="3484943"/>
            <a:ext cx="60980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 err="1">
                <a:solidFill>
                  <a:srgbClr val="A9B7C6"/>
                </a:solidFill>
                <a:effectLst/>
              </a:rPr>
              <a:t>dbHandler</a:t>
            </a:r>
            <a:r>
              <a:rPr lang="en-CA" dirty="0">
                <a:solidFill>
                  <a:srgbClr val="A9B7C6"/>
                </a:solidFill>
                <a:effectLst/>
              </a:rPr>
              <a:t> = </a:t>
            </a:r>
            <a:r>
              <a:rPr lang="en-CA" dirty="0">
                <a:solidFill>
                  <a:srgbClr val="CC7832"/>
                </a:solidFill>
                <a:effectLst/>
              </a:rPr>
              <a:t>new </a:t>
            </a:r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CC7832"/>
                </a:solidFill>
                <a:effectLst/>
              </a:rPr>
              <a:t>this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Product product = </a:t>
            </a:r>
            <a:r>
              <a:rPr lang="en-CA" dirty="0" err="1">
                <a:solidFill>
                  <a:srgbClr val="A9B7C6"/>
                </a:solidFill>
                <a:effectLst/>
              </a:rPr>
              <a:t>dbHandler.findProduct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9876AA"/>
                </a:solidFill>
                <a:effectLst/>
              </a:rPr>
              <a:t>productBox</a:t>
            </a:r>
            <a:r>
              <a:rPr lang="en-CA" dirty="0" err="1">
                <a:solidFill>
                  <a:srgbClr val="A9B7C6"/>
                </a:solidFill>
                <a:effectLst/>
              </a:rPr>
              <a:t>.getText</a:t>
            </a:r>
            <a:r>
              <a:rPr lang="en-CA" dirty="0">
                <a:solidFill>
                  <a:srgbClr val="A9B7C6"/>
                </a:solidFill>
                <a:effectLst/>
              </a:rPr>
              <a:t>().</a:t>
            </a:r>
            <a:r>
              <a:rPr lang="en-CA" dirty="0" err="1">
                <a:solidFill>
                  <a:srgbClr val="A9B7C6"/>
                </a:solidFill>
                <a:effectLst/>
              </a:rPr>
              <a:t>toString</a:t>
            </a:r>
            <a:r>
              <a:rPr lang="en-CA" dirty="0">
                <a:solidFill>
                  <a:srgbClr val="A9B7C6"/>
                </a:solidFill>
                <a:effectLst/>
              </a:rPr>
              <a:t>())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AFC10-F22D-8A66-74C1-0362E680C830}"/>
              </a:ext>
            </a:extLst>
          </p:cNvPr>
          <p:cNvSpPr txBox="1"/>
          <p:nvPr/>
        </p:nvSpPr>
        <p:spPr>
          <a:xfrm>
            <a:off x="948381" y="4845573"/>
            <a:ext cx="60980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 err="1">
                <a:solidFill>
                  <a:srgbClr val="A9B7C6"/>
                </a:solidFill>
                <a:effectLst/>
              </a:rPr>
              <a:t>dbHandler</a:t>
            </a:r>
            <a:r>
              <a:rPr lang="en-CA" dirty="0">
                <a:solidFill>
                  <a:srgbClr val="A9B7C6"/>
                </a:solidFill>
                <a:effectLst/>
              </a:rPr>
              <a:t> = </a:t>
            </a:r>
            <a:r>
              <a:rPr lang="en-CA" dirty="0">
                <a:solidFill>
                  <a:srgbClr val="CC7832"/>
                </a:solidFill>
                <a:effectLst/>
              </a:rPr>
              <a:t>new </a:t>
            </a:r>
            <a:r>
              <a:rPr lang="en-CA" dirty="0" err="1">
                <a:solidFill>
                  <a:srgbClr val="A9B7C6"/>
                </a:solidFill>
                <a:effectLst/>
              </a:rPr>
              <a:t>MyDBHandler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CC7832"/>
                </a:solidFill>
                <a:effectLst/>
              </a:rPr>
              <a:t>this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 err="1">
                <a:solidFill>
                  <a:srgbClr val="CC7832"/>
                </a:solidFill>
                <a:effectLst/>
              </a:rPr>
              <a:t>boolean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>
                <a:solidFill>
                  <a:srgbClr val="A9B7C6"/>
                </a:solidFill>
                <a:effectLst/>
              </a:rPr>
              <a:t>result = </a:t>
            </a:r>
            <a:r>
              <a:rPr lang="en-CA" dirty="0" err="1">
                <a:solidFill>
                  <a:srgbClr val="A9B7C6"/>
                </a:solidFill>
                <a:effectLst/>
              </a:rPr>
              <a:t>dbHandler.deleteProduct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9876AA"/>
                </a:solidFill>
                <a:effectLst/>
              </a:rPr>
              <a:t>productBox</a:t>
            </a:r>
            <a:r>
              <a:rPr lang="en-CA" dirty="0" err="1">
                <a:solidFill>
                  <a:srgbClr val="A9B7C6"/>
                </a:solidFill>
                <a:effectLst/>
              </a:rPr>
              <a:t>.getText</a:t>
            </a:r>
            <a:r>
              <a:rPr lang="en-CA" dirty="0">
                <a:solidFill>
                  <a:srgbClr val="A9B7C6"/>
                </a:solidFill>
                <a:effectLst/>
              </a:rPr>
              <a:t>().</a:t>
            </a:r>
            <a:r>
              <a:rPr lang="en-CA" dirty="0" err="1">
                <a:solidFill>
                  <a:srgbClr val="A9B7C6"/>
                </a:solidFill>
                <a:effectLst/>
              </a:rPr>
              <a:t>toString</a:t>
            </a:r>
            <a:r>
              <a:rPr lang="en-CA" dirty="0">
                <a:solidFill>
                  <a:srgbClr val="A9B7C6"/>
                </a:solidFill>
                <a:effectLst/>
              </a:rPr>
              <a:t>())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endParaRPr lang="en-CA" dirty="0">
              <a:solidFill>
                <a:srgbClr val="A9B7C6"/>
              </a:solidFill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8;p40">
            <a:extLst>
              <a:ext uri="{FF2B5EF4-FFF2-40B4-BE49-F238E27FC236}">
                <a16:creationId xmlns:a16="http://schemas.microsoft.com/office/drawing/2014/main" id="{80751CC1-7EC0-1699-25BA-96B6428BB356}"/>
              </a:ext>
            </a:extLst>
          </p:cNvPr>
          <p:cNvSpPr txBox="1">
            <a:spLocks/>
          </p:cNvSpPr>
          <p:nvPr/>
        </p:nvSpPr>
        <p:spPr>
          <a:xfrm>
            <a:off x="550333" y="692696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054AC-E0A5-5324-833D-EF15561E1DE1}"/>
              </a:ext>
            </a:extLst>
          </p:cNvPr>
          <p:cNvSpPr txBox="1"/>
          <p:nvPr/>
        </p:nvSpPr>
        <p:spPr>
          <a:xfrm>
            <a:off x="550333" y="1759458"/>
            <a:ext cx="11056232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/>
              <a:t>Add &amp; Lookup a Product</a:t>
            </a:r>
            <a:endParaRPr lang="en-CA" sz="1600" dirty="0"/>
          </a:p>
          <a:p>
            <a:pPr>
              <a:buFont typeface="+mj-lt"/>
              <a:buAutoNum type="arabicPeriod"/>
            </a:pPr>
            <a:r>
              <a:rPr lang="en-CA" sz="1600" dirty="0"/>
              <a:t>Enter a product name (e.g. "Laptop") in the Product Name field and a SKU (e.g. 1001) in the SKU field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Press </a:t>
            </a:r>
            <a:r>
              <a:rPr lang="en-CA" sz="1600" b="1" dirty="0"/>
              <a:t>ADD</a:t>
            </a:r>
            <a:r>
              <a:rPr lang="en-CA" sz="1600" dirty="0"/>
              <a:t> — </a:t>
            </a:r>
            <a:r>
              <a:rPr lang="en-CA" sz="1600" dirty="0" err="1"/>
              <a:t>newProduct</a:t>
            </a:r>
            <a:r>
              <a:rPr lang="en-CA" sz="1600" dirty="0"/>
              <a:t>() creates a Product object and calls </a:t>
            </a:r>
            <a:r>
              <a:rPr lang="en-CA" sz="1600" dirty="0" err="1"/>
              <a:t>dbHandler.addProduct</a:t>
            </a:r>
            <a:r>
              <a:rPr lang="en-CA" sz="1600" dirty="0"/>
              <a:t>()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Clear the SKU field, leave the name as-is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Press </a:t>
            </a:r>
            <a:r>
              <a:rPr lang="en-CA" sz="1600" b="1" dirty="0"/>
              <a:t>FIND</a:t>
            </a:r>
            <a:r>
              <a:rPr lang="en-CA" sz="1600" dirty="0"/>
              <a:t> — </a:t>
            </a:r>
            <a:r>
              <a:rPr lang="en-CA" sz="1600" dirty="0" err="1"/>
              <a:t>lookupProduct</a:t>
            </a:r>
            <a:r>
              <a:rPr lang="en-CA" sz="1600" dirty="0"/>
              <a:t>() queries by name and populates both the Product ID and SKU fields from the database</a:t>
            </a:r>
          </a:p>
          <a:p>
            <a:r>
              <a:rPr lang="en-CA" sz="1600" b="1" dirty="0"/>
              <a:t>To answer:</a:t>
            </a:r>
            <a:r>
              <a:rPr lang="en-CA" sz="1600" i="1" dirty="0"/>
              <a:t> Why does the ID field now show a number? Where did it come from?</a:t>
            </a:r>
          </a:p>
          <a:p>
            <a:endParaRPr lang="en-CA" sz="1600" i="1" dirty="0"/>
          </a:p>
          <a:p>
            <a:r>
              <a:rPr lang="en-CA" sz="1600" b="1" dirty="0"/>
              <a:t>Lookup a Non-Existent Product</a:t>
            </a:r>
            <a:endParaRPr lang="en-CA" sz="1600" dirty="0"/>
          </a:p>
          <a:p>
            <a:pPr>
              <a:buFont typeface="+mj-lt"/>
              <a:buAutoNum type="arabicPeriod"/>
            </a:pPr>
            <a:r>
              <a:rPr lang="en-CA" sz="1600" dirty="0"/>
              <a:t>Type a name that was never added (e.g. "Ghost")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Press </a:t>
            </a:r>
            <a:r>
              <a:rPr lang="en-CA" sz="1600" b="1" dirty="0"/>
              <a:t>FIND</a:t>
            </a:r>
            <a:endParaRPr lang="en-CA" sz="1600" dirty="0"/>
          </a:p>
          <a:p>
            <a:pPr>
              <a:buFont typeface="+mj-lt"/>
              <a:buAutoNum type="arabicPeriod"/>
            </a:pPr>
            <a:r>
              <a:rPr lang="en-CA" sz="1600" dirty="0"/>
              <a:t>The Product ID field shows "No Match Found”</a:t>
            </a:r>
          </a:p>
          <a:p>
            <a:pPr>
              <a:buFont typeface="+mj-lt"/>
              <a:buAutoNum type="arabicPeriod"/>
            </a:pPr>
            <a:endParaRPr lang="en-CA" sz="1600" dirty="0"/>
          </a:p>
          <a:p>
            <a:r>
              <a:rPr lang="en-CA" sz="1600" b="1" dirty="0"/>
              <a:t>Delete a Product</a:t>
            </a:r>
            <a:endParaRPr lang="en-CA" sz="1600" dirty="0"/>
          </a:p>
          <a:p>
            <a:pPr>
              <a:buFont typeface="+mj-lt"/>
              <a:buAutoNum type="arabicPeriod"/>
            </a:pPr>
            <a:r>
              <a:rPr lang="en-CA" sz="1600" dirty="0"/>
              <a:t>First add a product ("Keyboard", SKU 2002) via ADD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Type "Keyboard" in the Product Name field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Press </a:t>
            </a:r>
            <a:r>
              <a:rPr lang="en-CA" sz="1600" b="1" dirty="0"/>
              <a:t>DELETE</a:t>
            </a:r>
            <a:r>
              <a:rPr lang="en-CA" sz="1600" dirty="0"/>
              <a:t> — Product ID shows "Record Deleted" and both fields clear</a:t>
            </a:r>
          </a:p>
          <a:p>
            <a:pPr>
              <a:buFont typeface="+mj-lt"/>
              <a:buAutoNum type="arabicPeriod"/>
            </a:pPr>
            <a:r>
              <a:rPr lang="en-CA" sz="1600" dirty="0"/>
              <a:t>Now press </a:t>
            </a:r>
            <a:r>
              <a:rPr lang="en-CA" sz="1600" b="1" dirty="0"/>
              <a:t>FIND</a:t>
            </a:r>
            <a:r>
              <a:rPr lang="en-CA" sz="1600" dirty="0"/>
              <a:t> for "Keyboard" again — shows "No Match Found"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322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>
            <a:spLocks noGrp="1"/>
          </p:cNvSpPr>
          <p:nvPr>
            <p:ph type="title"/>
          </p:nvPr>
        </p:nvSpPr>
        <p:spPr>
          <a:xfrm>
            <a:off x="569120" y="3037690"/>
            <a:ext cx="10922264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THANK YOU!</a:t>
            </a:r>
            <a:endParaRPr sz="6000"/>
          </a:p>
        </p:txBody>
      </p:sp>
      <p:sp>
        <p:nvSpPr>
          <p:cNvPr id="294" name="Google Shape;294;p41"/>
          <p:cNvSpPr txBox="1">
            <a:spLocks noGrp="1"/>
          </p:cNvSpPr>
          <p:nvPr>
            <p:ph type="sldNum" idx="12"/>
          </p:nvPr>
        </p:nvSpPr>
        <p:spPr>
          <a:xfrm>
            <a:off x="8748184" y="63817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_them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4D4844"/>
      </a:lt2>
      <a:accent1>
        <a:srgbClr val="842323"/>
      </a:accent1>
      <a:accent2>
        <a:srgbClr val="678FB4"/>
      </a:accent2>
      <a:accent3>
        <a:srgbClr val="35353B"/>
      </a:accent3>
      <a:accent4>
        <a:srgbClr val="BCB92B"/>
      </a:accent4>
      <a:accent5>
        <a:srgbClr val="CF5837"/>
      </a:accent5>
      <a:accent6>
        <a:srgbClr val="2B2043"/>
      </a:accent6>
      <a:hlink>
        <a:srgbClr val="FCD532"/>
      </a:hlink>
      <a:folHlink>
        <a:srgbClr val="3784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Ottawa-powerpoint-templat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9E9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1140</Words>
  <Application>Microsoft Macintosh PowerPoint</Application>
  <PresentationFormat>Widescreen</PresentationFormat>
  <Paragraphs>123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Roboto Thin</vt:lpstr>
      <vt:lpstr>Calibri</vt:lpstr>
      <vt:lpstr>Times</vt:lpstr>
      <vt:lpstr>Verdana</vt:lpstr>
      <vt:lpstr>Roboto Light</vt:lpstr>
      <vt:lpstr>Arial</vt:lpstr>
      <vt:lpstr>powerpoint_theme</vt:lpstr>
      <vt:lpstr>uOttawa-powerpoint-template</vt:lpstr>
      <vt:lpstr>PowerPoint Presentation</vt:lpstr>
      <vt:lpstr>User Interface </vt:lpstr>
      <vt:lpstr>Product Table </vt:lpstr>
      <vt:lpstr>Import the Project</vt:lpstr>
      <vt:lpstr>First Steps</vt:lpstr>
      <vt:lpstr>Libraries to be Imported</vt:lpstr>
      <vt:lpstr>Define the Schema</vt:lpstr>
      <vt:lpstr>MyDBHandler constructor must call the super class constructor</vt:lpstr>
      <vt:lpstr>Override onCreate() method to create the table</vt:lpstr>
      <vt:lpstr>Override onUpgrade() method to drop old tables and create new ones</vt:lpstr>
      <vt:lpstr>Inserting into Database</vt:lpstr>
      <vt:lpstr>Reading from a Database</vt:lpstr>
      <vt:lpstr>Deleting Info from the database</vt:lpstr>
      <vt:lpstr>Final Steps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Dipeeka Luitel</cp:lastModifiedBy>
  <cp:revision>16</cp:revision>
  <dcterms:modified xsi:type="dcterms:W3CDTF">2026-06-13T21:26:51Z</dcterms:modified>
</cp:coreProperties>
</file>