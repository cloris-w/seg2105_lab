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4" r:id="rId2"/>
    <p:sldId id="257" r:id="rId3"/>
    <p:sldId id="258" r:id="rId4"/>
    <p:sldId id="259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02"/>
    <p:restoredTop sz="96484"/>
  </p:normalViewPr>
  <p:slideViewPr>
    <p:cSldViewPr snapToGrid="0" snapToObjects="1">
      <p:cViewPr varScale="1">
        <p:scale>
          <a:sx n="78" d="100"/>
          <a:sy n="78" d="100"/>
        </p:scale>
        <p:origin x="192" y="11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94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96726-B0E5-5C4D-84CE-D5351019831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11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heade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12393"/>
          </a:xfrm>
          <a:prstGeom prst="rect">
            <a:avLst/>
          </a:prstGeom>
        </p:spPr>
      </p:pic>
      <p:pic>
        <p:nvPicPr>
          <p:cNvPr id="3" name="Image 1" descr="/home/claude/assets/bottom_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73527"/>
            <a:ext cx="12191695" cy="284473"/>
          </a:xfrm>
          <a:prstGeom prst="rect">
            <a:avLst/>
          </a:prstGeom>
        </p:spPr>
      </p:pic>
      <p:pic>
        <p:nvPicPr>
          <p:cNvPr id="4" name="Image 2" descr="/home/claude/assets/uottaw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775" y="6271288"/>
            <a:ext cx="1325880" cy="2656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618947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Engineering  |  Faculté de Génie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207767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865"/>
            <a:ext cx="12192003" cy="384305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 bwMode="auto">
          <a:xfrm>
            <a:off x="0" y="5768215"/>
            <a:ext cx="12192000" cy="886711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pic>
        <p:nvPicPr>
          <p:cNvPr id="11" name="Picture 10" descr="uOttawa_HOR_WG7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406" y="382439"/>
            <a:ext cx="2263421" cy="454040"/>
          </a:xfrm>
          <a:prstGeom prst="rect">
            <a:avLst/>
          </a:prstGeom>
        </p:spPr>
      </p:pic>
      <p:pic>
        <p:nvPicPr>
          <p:cNvPr id="2" name="Picture 1"/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02" y="6662560"/>
            <a:ext cx="12194001" cy="2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4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207767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8737-7739-A42B-3D49-9B807FC78A9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/>
          </a:p>
          <a:p>
            <a:pPr algn="ctr"/>
            <a:r>
              <a:rPr lang="en-US" b="1" dirty="0"/>
              <a:t>SEG2105 – Lab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B97C4-6448-7672-7205-6F4C7B483A3B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98002E"/>
                </a:solidFill>
              </a:rPr>
              <a:t>Spring/Summer 2026</a:t>
            </a:r>
            <a:endParaRPr lang="en-US" sz="320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24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Create the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72513"/>
            <a:ext cx="1105783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lab6.zip on Brightspace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uses a small Java app with a single Login screen:</a:t>
            </a:r>
            <a:endParaRPr lang="en-US" sz="2400" dirty="0"/>
          </a:p>
          <a:p>
            <a:pPr marL="685800" lvl="1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field  (R.id.edtUsername)</a:t>
            </a:r>
            <a:endParaRPr lang="en-US" sz="2400" dirty="0"/>
          </a:p>
          <a:p>
            <a:pPr marL="685800" lvl="1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field  (R.id.edtPassword)</a:t>
            </a:r>
            <a:endParaRPr lang="en-US" sz="2400" dirty="0"/>
          </a:p>
          <a:p>
            <a:pPr marL="685800" lvl="1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button  (R.id.btnLogin)</a:t>
            </a:r>
            <a:endParaRPr lang="en-US" sz="2400" dirty="0"/>
          </a:p>
          <a:p>
            <a:pPr marL="685800" lvl="1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validate(username, password) method that returns a result message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207767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kinds of Android tests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26793"/>
            <a:ext cx="53460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5528" y="1591385"/>
            <a:ext cx="488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Local unit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030297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src/test/  ·  run on your computer's JVM  ·  milliseconds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524073"/>
            <a:ext cx="488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device or emulator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pure logic (e.g. validate())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4 + Mockito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Robolectric when you need the Android framework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78728" y="1426793"/>
            <a:ext cx="53460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7328" y="1591385"/>
            <a:ext cx="488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FA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Instrumented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7328" y="2030297"/>
            <a:ext cx="488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src/androidTest/  ·  run on a device/emulator  ·  seconds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7328" y="2524073"/>
            <a:ext cx="488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the real UI + Android framework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Espresso (in-app UI), UI Automator (system UI)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AndroidX Test libraries</a:t>
            </a:r>
            <a:endParaRPr lang="en-US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Runner: AndroidJUnitRunner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6928" y="483750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 (the test pyramid): test logic locally because it is fast and cheap; reserve device tests for UI and integration. This lab writes one of each.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207767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Exercise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72513"/>
            <a:ext cx="1105783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CA" sz="2400" b="0" i="0" dirty="0">
                <a:effectLst/>
                <a:latin typeface="Arial" panose="020B0604020202020204" pitchFamily="34" charset="0"/>
              </a:rPr>
              <a:t>Write a JUnit test case that validate the name, </a:t>
            </a:r>
            <a:r>
              <a:rPr lang="en-CA" sz="2400" b="0" i="0" dirty="0" err="1">
                <a:effectLst/>
                <a:latin typeface="Arial" panose="020B0604020202020204" pitchFamily="34" charset="0"/>
              </a:rPr>
              <a:t>lastname</a:t>
            </a:r>
            <a:r>
              <a:rPr lang="en-CA" sz="2400" b="0" i="0" dirty="0">
                <a:effectLst/>
                <a:latin typeface="Arial" panose="020B0604020202020204" pitchFamily="34" charset="0"/>
              </a:rPr>
              <a:t> and password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CA" sz="1000" dirty="0">
              <a:latin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CA" sz="2400" b="0" i="0" dirty="0">
                <a:effectLst/>
                <a:latin typeface="Arial" panose="020B0604020202020204" pitchFamily="34" charset="0"/>
              </a:rPr>
              <a:t>Write a espresso test case where we will validate the when the User types</a:t>
            </a:r>
            <a:br>
              <a:rPr lang="en-CA" sz="2400" b="0" i="0" dirty="0">
                <a:effectLst/>
                <a:latin typeface="Arial" panose="020B0604020202020204" pitchFamily="34" charset="0"/>
              </a:rPr>
            </a:br>
            <a:r>
              <a:rPr lang="en-CA" sz="2400" b="0" i="0" dirty="0">
                <a:effectLst/>
                <a:latin typeface="Arial" panose="020B0604020202020204" pitchFamily="34" charset="0"/>
              </a:rPr>
              <a:t>invalid name, </a:t>
            </a:r>
            <a:r>
              <a:rPr lang="en-CA" sz="2400" b="0" i="0" dirty="0" err="1">
                <a:effectLst/>
                <a:latin typeface="Arial" panose="020B0604020202020204" pitchFamily="34" charset="0"/>
              </a:rPr>
              <a:t>textview</a:t>
            </a:r>
            <a:r>
              <a:rPr lang="en-CA" sz="2400" b="0" i="0" dirty="0">
                <a:effectLst/>
                <a:latin typeface="Arial" panose="020B0604020202020204" pitchFamily="34" charset="0"/>
              </a:rPr>
              <a:t> should contain the text "Name is invalid”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CA" sz="1000" dirty="0">
              <a:latin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CA" sz="2400" b="0" i="0" dirty="0">
                <a:effectLst/>
                <a:latin typeface="Arial" panose="020B0604020202020204" pitchFamily="34" charset="0"/>
              </a:rPr>
              <a:t>Write a espresso test case where we will validate the when the User types</a:t>
            </a:r>
            <a:br>
              <a:rPr lang="en-CA" sz="2400" b="0" i="0" dirty="0">
                <a:effectLst/>
                <a:latin typeface="Arial" panose="020B0604020202020204" pitchFamily="34" charset="0"/>
              </a:rPr>
            </a:br>
            <a:r>
              <a:rPr lang="en-CA" sz="2400" b="0" i="0" dirty="0">
                <a:effectLst/>
                <a:latin typeface="Arial" panose="020B0604020202020204" pitchFamily="34" charset="0"/>
              </a:rPr>
              <a:t>invalid last name, </a:t>
            </a:r>
            <a:r>
              <a:rPr lang="en-CA" sz="2400" b="0" i="0" dirty="0" err="1">
                <a:effectLst/>
                <a:latin typeface="Arial" panose="020B0604020202020204" pitchFamily="34" charset="0"/>
              </a:rPr>
              <a:t>textview</a:t>
            </a:r>
            <a:r>
              <a:rPr lang="en-CA" sz="2400" b="0" i="0" dirty="0">
                <a:effectLst/>
                <a:latin typeface="Arial" panose="020B0604020202020204" pitchFamily="34" charset="0"/>
              </a:rPr>
              <a:t> should contain the text "Last name is invalid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207767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641B82C-E7BB-26CD-87BF-D53A10945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317065"/>
            <a:ext cx="7772400" cy="487754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F4C3F94-52F9-F382-25F4-95E6B41A7A83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Once the app builds, add the dependencies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DD2EF-4032-4A17-F56E-690D96A31669}"/>
              </a:ext>
            </a:extLst>
          </p:cNvPr>
          <p:cNvSpPr txBox="1"/>
          <p:nvPr/>
        </p:nvSpPr>
        <p:spPr>
          <a:xfrm>
            <a:off x="4958262" y="3819379"/>
            <a:ext cx="4030993" cy="17543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89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13FDD-6AC6-5D4D-0076-D8D1B724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A2E7BB8-A5FA-EFAF-751C-42D8445A2897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Set the instrumentation runner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650E70F-8CF9-C4B8-BEE9-6FA6EA88E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317065"/>
            <a:ext cx="7772400" cy="4877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C6701A-1AA7-09B5-818A-06B78FFF5D63}"/>
              </a:ext>
            </a:extLst>
          </p:cNvPr>
          <p:cNvSpPr txBox="1"/>
          <p:nvPr/>
        </p:nvSpPr>
        <p:spPr>
          <a:xfrm>
            <a:off x="5366226" y="4255477"/>
            <a:ext cx="3524557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18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31DCD9-3C4D-5566-A731-D65E4637C3C2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the test class under </a:t>
            </a:r>
            <a:r>
              <a:rPr lang="en-US" sz="3200" b="1" dirty="0" err="1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androidTest</a:t>
            </a:r>
            <a:endParaRPr lang="en-US" sz="3200" b="1" dirty="0">
              <a:solidFill>
                <a:srgbClr val="990000"/>
              </a:solidFill>
              <a:latin typeface="Verdana" pitchFamily="34" charset="0"/>
              <a:ea typeface="Verdana" pitchFamily="34" charset="-122"/>
              <a:cs typeface="Verdana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02B70-D799-41B7-A220-BFBBEF1972A5}"/>
              </a:ext>
            </a:extLst>
          </p:cNvPr>
          <p:cNvSpPr txBox="1"/>
          <p:nvPr/>
        </p:nvSpPr>
        <p:spPr>
          <a:xfrm>
            <a:off x="566928" y="1491176"/>
            <a:ext cx="1430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click on </a:t>
            </a:r>
            <a:r>
              <a:rPr lang="en-US" dirty="0" err="1"/>
              <a:t>androidTest</a:t>
            </a:r>
            <a:r>
              <a:rPr lang="en-US" dirty="0"/>
              <a:t> and create a new Java class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1CCF082-9730-6E75-068C-FD0DE8D6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303470"/>
            <a:ext cx="7772400" cy="487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8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B98C5E6-81A8-97D9-D3B6-BD4200870727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JUnit test case for user first name sample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575D056-E9E6-7D5B-91B8-F9A46A27B42F}"/>
              </a:ext>
            </a:extLst>
          </p:cNvPr>
          <p:cNvSpPr/>
          <p:nvPr/>
        </p:nvSpPr>
        <p:spPr>
          <a:xfrm>
            <a:off x="566928" y="1472513"/>
            <a:ext cx="1105783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CA" sz="1200" dirty="0">
                <a:solidFill>
                  <a:srgbClr val="CC7832"/>
                </a:solidFill>
                <a:effectLst/>
              </a:rPr>
              <a:t>public class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LoginActivityTest</a:t>
            </a:r>
            <a:r>
              <a:rPr lang="en-CA" sz="1200" dirty="0">
                <a:solidFill>
                  <a:srgbClr val="A9B7C6"/>
                </a:solidFill>
                <a:effectLst/>
              </a:rPr>
              <a:t> 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</a:t>
            </a:r>
            <a:r>
              <a:rPr lang="en-CA" sz="1200" dirty="0">
                <a:solidFill>
                  <a:srgbClr val="BBB529"/>
                </a:solidFill>
                <a:effectLst/>
              </a:rPr>
              <a:t>@Rule</a:t>
            </a:r>
            <a:br>
              <a:rPr lang="en-CA" sz="1200" dirty="0">
                <a:solidFill>
                  <a:srgbClr val="BBB529"/>
                </a:solidFill>
                <a:effectLst/>
              </a:rPr>
            </a:br>
            <a:r>
              <a:rPr lang="en-CA" sz="1200" dirty="0">
                <a:solidFill>
                  <a:srgbClr val="BBB529"/>
                </a:solidFill>
                <a:effectLst/>
              </a:rPr>
              <a:t>    </a:t>
            </a:r>
            <a:r>
              <a:rPr lang="en-CA" sz="1200" dirty="0">
                <a:solidFill>
                  <a:srgbClr val="CC7832"/>
                </a:solidFill>
                <a:effectLst/>
              </a:rPr>
              <a:t>public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ActivityScenarioRule</a:t>
            </a:r>
            <a:r>
              <a:rPr lang="en-CA" sz="1200" dirty="0">
                <a:solidFill>
                  <a:srgbClr val="A9B7C6"/>
                </a:solidFill>
                <a:effectLst/>
              </a:rPr>
              <a:t>&lt;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LoginActivity</a:t>
            </a:r>
            <a:r>
              <a:rPr lang="en-CA" sz="1200" dirty="0">
                <a:solidFill>
                  <a:srgbClr val="A9B7C6"/>
                </a:solidFill>
                <a:effectLst/>
              </a:rPr>
              <a:t>&gt;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loginActivityTestRule</a:t>
            </a:r>
            <a:r>
              <a:rPr lang="en-CA" sz="1200" dirty="0">
                <a:solidFill>
                  <a:srgbClr val="9876AA"/>
                </a:solidFill>
                <a:effectLst/>
              </a:rPr>
              <a:t> </a:t>
            </a:r>
            <a:r>
              <a:rPr lang="en-CA" sz="1200" dirty="0">
                <a:solidFill>
                  <a:srgbClr val="A9B7C6"/>
                </a:solidFill>
                <a:effectLst/>
              </a:rPr>
              <a:t>= </a:t>
            </a:r>
            <a:r>
              <a:rPr lang="en-CA" sz="1200" dirty="0">
                <a:solidFill>
                  <a:srgbClr val="CC7832"/>
                </a:solidFill>
                <a:effectLst/>
              </a:rPr>
              <a:t>new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ActivityScenarioRule</a:t>
            </a:r>
            <a:r>
              <a:rPr lang="en-CA" sz="1200" dirty="0">
                <a:solidFill>
                  <a:srgbClr val="A9B7C6"/>
                </a:solidFill>
                <a:effectLst/>
              </a:rPr>
              <a:t>&lt;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LoginActivity</a:t>
            </a:r>
            <a:r>
              <a:rPr lang="en-CA" sz="1200" dirty="0">
                <a:solidFill>
                  <a:srgbClr val="A9B7C6"/>
                </a:solidFill>
                <a:effectLst/>
              </a:rPr>
              <a:t>&gt;(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LoginActivity.</a:t>
            </a:r>
            <a:r>
              <a:rPr lang="en-CA" sz="1200" dirty="0" err="1">
                <a:solidFill>
                  <a:srgbClr val="CC7832"/>
                </a:solidFill>
                <a:effectLst/>
              </a:rPr>
              <a:t>class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private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LoginActivity</a:t>
            </a:r>
            <a:r>
              <a:rPr lang="en-CA" sz="1200" dirty="0">
                <a:solidFill>
                  <a:srgbClr val="A9B7C6"/>
                </a:solidFill>
                <a:effectLst/>
              </a:rPr>
              <a:t>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loginActivity</a:t>
            </a:r>
            <a:r>
              <a:rPr lang="en-CA" sz="1200" dirty="0">
                <a:solidFill>
                  <a:srgbClr val="9876AA"/>
                </a:solidFill>
                <a:effectLst/>
              </a:rPr>
              <a:t> </a:t>
            </a:r>
            <a:r>
              <a:rPr lang="en-CA" sz="1200" dirty="0">
                <a:solidFill>
                  <a:srgbClr val="A9B7C6"/>
                </a:solidFill>
                <a:effectLst/>
              </a:rPr>
              <a:t>= </a:t>
            </a:r>
            <a:r>
              <a:rPr lang="en-CA" sz="1200" dirty="0">
                <a:solidFill>
                  <a:srgbClr val="CC7832"/>
                </a:solidFill>
                <a:effectLst/>
              </a:rPr>
              <a:t>null;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private 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TextView</a:t>
            </a:r>
            <a:r>
              <a:rPr lang="en-CA" sz="1200" dirty="0">
                <a:solidFill>
                  <a:srgbClr val="A9B7C6"/>
                </a:solidFill>
                <a:effectLst/>
              </a:rPr>
              <a:t> </a:t>
            </a:r>
            <a:r>
              <a:rPr lang="en-CA" sz="1200" dirty="0">
                <a:solidFill>
                  <a:srgbClr val="9876AA"/>
                </a:solidFill>
                <a:effectLst/>
              </a:rPr>
              <a:t>text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br>
              <a:rPr lang="en-CA" sz="1200" dirty="0">
                <a:solidFill>
                  <a:srgbClr val="CC7832"/>
                </a:solidFill>
                <a:effectLst/>
              </a:rPr>
            </a:b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>
                <a:solidFill>
                  <a:srgbClr val="BBB529"/>
                </a:solidFill>
                <a:effectLst/>
              </a:rPr>
              <a:t>@Before</a:t>
            </a:r>
            <a:br>
              <a:rPr lang="en-CA" sz="1200" dirty="0">
                <a:solidFill>
                  <a:srgbClr val="BBB529"/>
                </a:solidFill>
                <a:effectLst/>
              </a:rPr>
            </a:br>
            <a:r>
              <a:rPr lang="en-CA" sz="1200" dirty="0">
                <a:solidFill>
                  <a:srgbClr val="BBB529"/>
                </a:solidFill>
                <a:effectLst/>
              </a:rPr>
              <a:t>    </a:t>
            </a:r>
            <a:r>
              <a:rPr lang="en-CA" sz="1200" dirty="0">
                <a:solidFill>
                  <a:srgbClr val="CC7832"/>
                </a:solidFill>
                <a:effectLst/>
              </a:rPr>
              <a:t>public void </a:t>
            </a:r>
            <a:r>
              <a:rPr lang="en-CA" sz="1200" dirty="0" err="1">
                <a:solidFill>
                  <a:srgbClr val="FFC66D"/>
                </a:solidFill>
                <a:effectLst/>
              </a:rPr>
              <a:t>setUp</a:t>
            </a:r>
            <a:r>
              <a:rPr lang="en-CA" sz="1200" dirty="0">
                <a:solidFill>
                  <a:srgbClr val="A9B7C6"/>
                </a:solidFill>
                <a:effectLst/>
              </a:rPr>
              <a:t>() </a:t>
            </a:r>
            <a:r>
              <a:rPr lang="en-CA" sz="1200" dirty="0">
                <a:solidFill>
                  <a:srgbClr val="CC7832"/>
                </a:solidFill>
                <a:effectLst/>
              </a:rPr>
              <a:t>throws </a:t>
            </a:r>
            <a:r>
              <a:rPr lang="en-CA" sz="1200" dirty="0">
                <a:solidFill>
                  <a:srgbClr val="A9B7C6"/>
                </a:solidFill>
                <a:effectLst/>
              </a:rPr>
              <a:t>Exception 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loginActivityTestRule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.getScenario</a:t>
            </a:r>
            <a:r>
              <a:rPr lang="en-CA" sz="1200" dirty="0">
                <a:solidFill>
                  <a:srgbClr val="A9B7C6"/>
                </a:solidFill>
                <a:effectLst/>
              </a:rPr>
              <a:t>().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onActivity</a:t>
            </a:r>
            <a:r>
              <a:rPr lang="en-CA" sz="1200" dirty="0">
                <a:solidFill>
                  <a:srgbClr val="A9B7C6"/>
                </a:solidFill>
                <a:effectLst/>
              </a:rPr>
              <a:t>(activity -&gt; 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   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loginActivity</a:t>
            </a:r>
            <a:r>
              <a:rPr lang="en-CA" sz="1200" dirty="0">
                <a:solidFill>
                  <a:srgbClr val="9876AA"/>
                </a:solidFill>
                <a:effectLst/>
              </a:rPr>
              <a:t> </a:t>
            </a:r>
            <a:r>
              <a:rPr lang="en-CA" sz="1200" dirty="0">
                <a:solidFill>
                  <a:srgbClr val="A9B7C6"/>
                </a:solidFill>
                <a:effectLst/>
              </a:rPr>
              <a:t>= activity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})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}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</a:t>
            </a:r>
            <a:r>
              <a:rPr lang="en-CA" sz="1200" dirty="0">
                <a:solidFill>
                  <a:srgbClr val="BBB529"/>
                </a:solidFill>
                <a:effectLst/>
              </a:rPr>
              <a:t>@Test</a:t>
            </a:r>
            <a:br>
              <a:rPr lang="en-CA" sz="1200" dirty="0">
                <a:solidFill>
                  <a:srgbClr val="BBB529"/>
                </a:solidFill>
                <a:effectLst/>
              </a:rPr>
            </a:br>
            <a:r>
              <a:rPr lang="en-CA" sz="1200" dirty="0">
                <a:solidFill>
                  <a:srgbClr val="BBB529"/>
                </a:solidFill>
                <a:effectLst/>
              </a:rPr>
              <a:t>    @</a:t>
            </a:r>
            <a:r>
              <a:rPr lang="en-CA" sz="1200" dirty="0" err="1">
                <a:solidFill>
                  <a:srgbClr val="BBB529"/>
                </a:solidFill>
                <a:effectLst/>
              </a:rPr>
              <a:t>UiThreadTest</a:t>
            </a:r>
            <a:br>
              <a:rPr lang="en-CA" sz="1200" dirty="0">
                <a:solidFill>
                  <a:srgbClr val="BBB529"/>
                </a:solidFill>
                <a:effectLst/>
              </a:rPr>
            </a:br>
            <a:r>
              <a:rPr lang="en-CA" sz="1200" dirty="0">
                <a:solidFill>
                  <a:srgbClr val="BBB529"/>
                </a:solidFill>
                <a:effectLst/>
              </a:rPr>
              <a:t>    </a:t>
            </a:r>
            <a:r>
              <a:rPr lang="en-CA" sz="1200" dirty="0">
                <a:solidFill>
                  <a:srgbClr val="CC7832"/>
                </a:solidFill>
                <a:effectLst/>
              </a:rPr>
              <a:t>public void </a:t>
            </a:r>
            <a:r>
              <a:rPr lang="en-CA" sz="1200" dirty="0" err="1">
                <a:solidFill>
                  <a:srgbClr val="FFC66D"/>
                </a:solidFill>
                <a:effectLst/>
              </a:rPr>
              <a:t>checkFirstName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() </a:t>
            </a:r>
            <a:r>
              <a:rPr lang="en-CA" sz="1200" dirty="0">
                <a:solidFill>
                  <a:srgbClr val="CC7832"/>
                </a:solidFill>
                <a:effectLst/>
              </a:rPr>
              <a:t>throws </a:t>
            </a:r>
            <a:r>
              <a:rPr lang="en-CA" sz="1200" dirty="0">
                <a:solidFill>
                  <a:srgbClr val="A9B7C6"/>
                </a:solidFill>
                <a:effectLst/>
              </a:rPr>
              <a:t>Exception {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        </a:t>
            </a:r>
            <a:r>
              <a:rPr lang="en-CA" sz="1200" i="1" dirty="0" err="1">
                <a:solidFill>
                  <a:srgbClr val="A9B7C6"/>
                </a:solidFill>
                <a:effectLst/>
              </a:rPr>
              <a:t>assertNotNull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loginActivity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.findViewById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R.id.</a:t>
            </a:r>
            <a:r>
              <a:rPr lang="en-CA" sz="1200" i="1" dirty="0" err="1">
                <a:solidFill>
                  <a:srgbClr val="9876AA"/>
                </a:solidFill>
                <a:effectLst/>
              </a:rPr>
              <a:t>edtUsername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))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dirty="0">
                <a:solidFill>
                  <a:srgbClr val="9876AA"/>
                </a:solidFill>
                <a:effectLst/>
              </a:rPr>
              <a:t>text </a:t>
            </a:r>
            <a:r>
              <a:rPr lang="en-CA" sz="1200" dirty="0">
                <a:solidFill>
                  <a:srgbClr val="A9B7C6"/>
                </a:solidFill>
                <a:effectLst/>
              </a:rPr>
              <a:t>=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loginActivity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.findViewById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R.id.</a:t>
            </a:r>
            <a:r>
              <a:rPr lang="en-CA" sz="1200" i="1" dirty="0" err="1">
                <a:solidFill>
                  <a:srgbClr val="9876AA"/>
                </a:solidFill>
                <a:effectLst/>
              </a:rPr>
              <a:t>edtUsername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text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.setText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>
                <a:solidFill>
                  <a:srgbClr val="6A8759"/>
                </a:solidFill>
                <a:effectLst/>
              </a:rPr>
              <a:t>"user1"</a:t>
            </a:r>
            <a:r>
              <a:rPr lang="en-CA" sz="1200" dirty="0">
                <a:solidFill>
                  <a:srgbClr val="A9B7C6"/>
                </a:solidFill>
                <a:effectLst/>
              </a:rPr>
              <a:t>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String name = </a:t>
            </a:r>
            <a:r>
              <a:rPr lang="en-CA" sz="1200" dirty="0" err="1">
                <a:solidFill>
                  <a:srgbClr val="9876AA"/>
                </a:solidFill>
                <a:effectLst/>
              </a:rPr>
              <a:t>text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.getText</a:t>
            </a:r>
            <a:r>
              <a:rPr lang="en-CA" sz="1200" dirty="0">
                <a:solidFill>
                  <a:srgbClr val="A9B7C6"/>
                </a:solidFill>
                <a:effectLst/>
              </a:rPr>
              <a:t>().</a:t>
            </a:r>
            <a:r>
              <a:rPr lang="en-CA" sz="1200" dirty="0" err="1">
                <a:solidFill>
                  <a:srgbClr val="A9B7C6"/>
                </a:solidFill>
                <a:effectLst/>
              </a:rPr>
              <a:t>toString</a:t>
            </a:r>
            <a:r>
              <a:rPr lang="en-CA" sz="1200" dirty="0">
                <a:solidFill>
                  <a:srgbClr val="A9B7C6"/>
                </a:solidFill>
                <a:effectLst/>
              </a:rPr>
              <a:t>()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    </a:t>
            </a:r>
            <a:r>
              <a:rPr lang="en-CA" sz="1200" i="1" dirty="0" err="1">
                <a:solidFill>
                  <a:srgbClr val="A9B7C6"/>
                </a:solidFill>
                <a:effectLst/>
              </a:rPr>
              <a:t>assertNotEquals</a:t>
            </a:r>
            <a:r>
              <a:rPr lang="en-CA" sz="1200" dirty="0">
                <a:solidFill>
                  <a:srgbClr val="A9B7C6"/>
                </a:solidFill>
                <a:effectLst/>
              </a:rPr>
              <a:t>(</a:t>
            </a:r>
            <a:r>
              <a:rPr lang="en-CA" sz="1200" dirty="0">
                <a:solidFill>
                  <a:srgbClr val="6A8759"/>
                </a:solidFill>
                <a:effectLst/>
              </a:rPr>
              <a:t>"user"</a:t>
            </a:r>
            <a:r>
              <a:rPr lang="en-CA" sz="1200" dirty="0">
                <a:solidFill>
                  <a:srgbClr val="CC7832"/>
                </a:solidFill>
                <a:effectLst/>
              </a:rPr>
              <a:t>, </a:t>
            </a:r>
            <a:r>
              <a:rPr lang="en-CA" sz="1200" dirty="0">
                <a:solidFill>
                  <a:srgbClr val="A9B7C6"/>
                </a:solidFill>
                <a:effectLst/>
              </a:rPr>
              <a:t>name)</a:t>
            </a:r>
            <a:r>
              <a:rPr lang="en-CA" sz="1200" dirty="0">
                <a:solidFill>
                  <a:srgbClr val="CC7832"/>
                </a:solidFill>
                <a:effectLst/>
              </a:rPr>
              <a:t>;</a:t>
            </a:r>
            <a:br>
              <a:rPr lang="en-CA" sz="1200" dirty="0">
                <a:solidFill>
                  <a:srgbClr val="CC7832"/>
                </a:solidFill>
                <a:effectLst/>
              </a:rPr>
            </a:br>
            <a:r>
              <a:rPr lang="en-CA" sz="1200" dirty="0">
                <a:solidFill>
                  <a:srgbClr val="CC7832"/>
                </a:solidFill>
                <a:effectLst/>
              </a:rPr>
              <a:t>    </a:t>
            </a:r>
            <a:r>
              <a:rPr lang="en-CA" sz="1200" dirty="0">
                <a:solidFill>
                  <a:srgbClr val="A9B7C6"/>
                </a:solidFill>
                <a:effectLst/>
              </a:rPr>
              <a:t>}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r>
              <a:rPr lang="en-CA" sz="1200" dirty="0">
                <a:solidFill>
                  <a:srgbClr val="A9B7C6"/>
                </a:solidFill>
                <a:effectLst/>
              </a:rPr>
              <a:t>}</a:t>
            </a:r>
            <a:br>
              <a:rPr lang="en-CA" sz="1200" dirty="0">
                <a:solidFill>
                  <a:srgbClr val="A9B7C6"/>
                </a:solidFill>
                <a:effectLst/>
              </a:rPr>
            </a:br>
            <a:endParaRPr lang="en-CA" sz="1200" dirty="0">
              <a:solidFill>
                <a:srgbClr val="A9B7C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0940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9E814D7-823B-703A-5A29-118B89903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859" y="1317065"/>
            <a:ext cx="7772400" cy="478976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6BC06E-15CF-E418-3951-F1B231257F4F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 the unit test case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4237AB7-6F97-9787-16D5-7702690646AA}"/>
              </a:ext>
            </a:extLst>
          </p:cNvPr>
          <p:cNvSpPr/>
          <p:nvPr/>
        </p:nvSpPr>
        <p:spPr>
          <a:xfrm>
            <a:off x="566928" y="1472513"/>
            <a:ext cx="24013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CA" sz="2400" b="0" i="0" dirty="0">
                <a:effectLst/>
                <a:latin typeface="Arial" panose="020B0604020202020204" pitchFamily="34" charset="0"/>
              </a:rPr>
              <a:t>Right click on </a:t>
            </a:r>
            <a:r>
              <a:rPr lang="en-CA" sz="2400" b="0" i="0" dirty="0" err="1">
                <a:effectLst/>
                <a:latin typeface="Arial" panose="020B0604020202020204" pitchFamily="34" charset="0"/>
              </a:rPr>
              <a:t>androidTes</a:t>
            </a:r>
            <a:r>
              <a:rPr lang="en-CA" sz="2400" dirty="0" err="1">
                <a:latin typeface="Arial" panose="020B0604020202020204" pitchFamily="34" charset="0"/>
              </a:rPr>
              <a:t>t</a:t>
            </a:r>
            <a:r>
              <a:rPr lang="en-CA" sz="2400" dirty="0">
                <a:latin typeface="Arial" panose="020B0604020202020204" pitchFamily="34" charset="0"/>
              </a:rPr>
              <a:t> and run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4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961274-D426-9124-5C2E-6D7623CBBE90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another test class for Espresso UI test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F4346F-67D4-6016-FC2D-DB23CD90D288}"/>
              </a:ext>
            </a:extLst>
          </p:cNvPr>
          <p:cNvSpPr/>
          <p:nvPr/>
        </p:nvSpPr>
        <p:spPr>
          <a:xfrm>
            <a:off x="566928" y="1472513"/>
            <a:ext cx="24013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CA" sz="2400" b="0" i="0" dirty="0">
                <a:effectLst/>
                <a:latin typeface="Arial" panose="020B0604020202020204" pitchFamily="34" charset="0"/>
              </a:rPr>
              <a:t>For example, to validate correct error message on UI when wrong email is entered.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E2C49-69CC-2A19-19CD-151A764675CA}"/>
              </a:ext>
            </a:extLst>
          </p:cNvPr>
          <p:cNvSpPr txBox="1"/>
          <p:nvPr/>
        </p:nvSpPr>
        <p:spPr>
          <a:xfrm>
            <a:off x="3532327" y="1451974"/>
            <a:ext cx="8092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C7832"/>
                </a:solidFill>
                <a:effectLst/>
              </a:rPr>
              <a:t>public class </a:t>
            </a:r>
            <a:r>
              <a:rPr lang="en-CA" dirty="0">
                <a:solidFill>
                  <a:srgbClr val="A9B7C6"/>
                </a:solidFill>
                <a:effectLst/>
              </a:rPr>
              <a:t>LoginActivityTest2 {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</a:t>
            </a:r>
            <a:r>
              <a:rPr lang="en-CA" dirty="0">
                <a:solidFill>
                  <a:srgbClr val="BBB529"/>
                </a:solidFill>
                <a:effectLst/>
              </a:rPr>
              <a:t>@Rule</a:t>
            </a:r>
            <a:br>
              <a:rPr lang="en-CA" dirty="0">
                <a:solidFill>
                  <a:srgbClr val="BBB529"/>
                </a:solidFill>
                <a:effectLst/>
              </a:rPr>
            </a:br>
            <a:r>
              <a:rPr lang="en-CA" dirty="0">
                <a:solidFill>
                  <a:srgbClr val="BBB529"/>
                </a:solidFill>
                <a:effectLst/>
              </a:rPr>
              <a:t>    </a:t>
            </a:r>
            <a:r>
              <a:rPr lang="en-CA" dirty="0">
                <a:solidFill>
                  <a:srgbClr val="CC7832"/>
                </a:solidFill>
                <a:effectLst/>
              </a:rPr>
              <a:t>public </a:t>
            </a:r>
            <a:r>
              <a:rPr lang="en-CA" dirty="0" err="1">
                <a:solidFill>
                  <a:srgbClr val="A9B7C6"/>
                </a:solidFill>
                <a:effectLst/>
              </a:rPr>
              <a:t>ActivityScenarioRule</a:t>
            </a:r>
            <a:r>
              <a:rPr lang="en-CA" dirty="0">
                <a:solidFill>
                  <a:srgbClr val="A9B7C6"/>
                </a:solidFill>
                <a:effectLst/>
              </a:rPr>
              <a:t>&lt;</a:t>
            </a:r>
            <a:r>
              <a:rPr lang="en-CA" dirty="0" err="1">
                <a:solidFill>
                  <a:srgbClr val="A9B7C6"/>
                </a:solidFill>
                <a:effectLst/>
              </a:rPr>
              <a:t>LoginActivity</a:t>
            </a:r>
            <a:r>
              <a:rPr lang="en-CA" dirty="0">
                <a:solidFill>
                  <a:srgbClr val="A9B7C6"/>
                </a:solidFill>
                <a:effectLst/>
              </a:rPr>
              <a:t>&gt; </a:t>
            </a:r>
            <a:r>
              <a:rPr lang="en-CA" dirty="0" err="1">
                <a:solidFill>
                  <a:srgbClr val="9876AA"/>
                </a:solidFill>
                <a:effectLst/>
              </a:rPr>
              <a:t>loginActivityScenarioRule</a:t>
            </a:r>
            <a:r>
              <a:rPr lang="en-CA" dirty="0">
                <a:solidFill>
                  <a:srgbClr val="9876AA"/>
                </a:solidFill>
                <a:effectLst/>
              </a:rPr>
              <a:t> </a:t>
            </a:r>
            <a:r>
              <a:rPr lang="en-CA" dirty="0">
                <a:solidFill>
                  <a:srgbClr val="A9B7C6"/>
                </a:solidFill>
                <a:effectLst/>
              </a:rPr>
              <a:t>= </a:t>
            </a:r>
            <a:r>
              <a:rPr lang="en-CA" dirty="0">
                <a:solidFill>
                  <a:srgbClr val="CC7832"/>
                </a:solidFill>
                <a:effectLst/>
              </a:rPr>
              <a:t>new </a:t>
            </a:r>
            <a:r>
              <a:rPr lang="en-CA" dirty="0" err="1">
                <a:solidFill>
                  <a:srgbClr val="A9B7C6"/>
                </a:solidFill>
                <a:effectLst/>
              </a:rPr>
              <a:t>ActivityScenarioRule</a:t>
            </a:r>
            <a:r>
              <a:rPr lang="en-CA" dirty="0">
                <a:solidFill>
                  <a:srgbClr val="A9B7C6"/>
                </a:solidFill>
                <a:effectLst/>
              </a:rPr>
              <a:t>&lt;&gt;(</a:t>
            </a:r>
            <a:r>
              <a:rPr lang="en-CA" dirty="0" err="1">
                <a:solidFill>
                  <a:srgbClr val="A9B7C6"/>
                </a:solidFill>
                <a:effectLst/>
              </a:rPr>
              <a:t>LoginActivity.</a:t>
            </a:r>
            <a:r>
              <a:rPr lang="en-CA" dirty="0" err="1">
                <a:solidFill>
                  <a:srgbClr val="CC7832"/>
                </a:solidFill>
                <a:effectLst/>
              </a:rPr>
              <a:t>class</a:t>
            </a:r>
            <a:r>
              <a:rPr lang="en-CA" dirty="0">
                <a:solidFill>
                  <a:srgbClr val="A9B7C6"/>
                </a:solidFill>
                <a:effectLst/>
              </a:rPr>
              <a:t>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</a:t>
            </a:r>
            <a:r>
              <a:rPr lang="en-CA" dirty="0">
                <a:solidFill>
                  <a:srgbClr val="BBB529"/>
                </a:solidFill>
                <a:effectLst/>
              </a:rPr>
              <a:t>@Test</a:t>
            </a:r>
            <a:br>
              <a:rPr lang="en-CA" dirty="0">
                <a:solidFill>
                  <a:srgbClr val="BBB529"/>
                </a:solidFill>
                <a:effectLst/>
              </a:rPr>
            </a:br>
            <a:r>
              <a:rPr lang="en-CA" dirty="0">
                <a:solidFill>
                  <a:srgbClr val="BBB529"/>
                </a:solidFill>
                <a:effectLst/>
              </a:rPr>
              <a:t>    </a:t>
            </a:r>
            <a:r>
              <a:rPr lang="en-CA" dirty="0">
                <a:solidFill>
                  <a:srgbClr val="CC7832"/>
                </a:solidFill>
                <a:effectLst/>
              </a:rPr>
              <a:t>public void </a:t>
            </a:r>
            <a:r>
              <a:rPr lang="en-CA" dirty="0" err="1">
                <a:solidFill>
                  <a:srgbClr val="FFC66D"/>
                </a:solidFill>
                <a:effectLst/>
              </a:rPr>
              <a:t>loginIsInvalid</a:t>
            </a:r>
            <a:r>
              <a:rPr lang="en-CA" dirty="0">
                <a:solidFill>
                  <a:srgbClr val="A9B7C6"/>
                </a:solidFill>
                <a:effectLst/>
              </a:rPr>
              <a:t>() {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    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onView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withId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R.id.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edtUsername</a:t>
            </a:r>
            <a:r>
              <a:rPr lang="en-CA" dirty="0">
                <a:solidFill>
                  <a:srgbClr val="A9B7C6"/>
                </a:solidFill>
                <a:effectLst/>
              </a:rPr>
              <a:t>)).perform(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typeText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"user"</a:t>
            </a:r>
            <a:r>
              <a:rPr lang="en-CA" dirty="0">
                <a:solidFill>
                  <a:srgbClr val="A9B7C6"/>
                </a:solidFill>
                <a:effectLst/>
              </a:rPr>
              <a:t>))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  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onView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withId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R.id.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edtPassword</a:t>
            </a:r>
            <a:r>
              <a:rPr lang="en-CA" dirty="0">
                <a:solidFill>
                  <a:srgbClr val="A9B7C6"/>
                </a:solidFill>
                <a:effectLst/>
              </a:rPr>
              <a:t>)).perform(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typeText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"test"</a:t>
            </a:r>
            <a:r>
              <a:rPr lang="en-CA" dirty="0">
                <a:solidFill>
                  <a:srgbClr val="A9B7C6"/>
                </a:solidFill>
                <a:effectLst/>
              </a:rPr>
              <a:t>))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  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closeSoftKeyboard</a:t>
            </a:r>
            <a:r>
              <a:rPr lang="en-CA" dirty="0">
                <a:solidFill>
                  <a:srgbClr val="A9B7C6"/>
                </a:solidFill>
                <a:effectLst/>
              </a:rPr>
              <a:t>()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  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onView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withId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R.id.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btnLogin</a:t>
            </a:r>
            <a:r>
              <a:rPr lang="en-CA" dirty="0">
                <a:solidFill>
                  <a:srgbClr val="A9B7C6"/>
                </a:solidFill>
                <a:effectLst/>
              </a:rPr>
              <a:t>)).perform(</a:t>
            </a:r>
            <a:r>
              <a:rPr lang="en-CA" i="1" dirty="0">
                <a:solidFill>
                  <a:srgbClr val="A9B7C6"/>
                </a:solidFill>
                <a:effectLst/>
              </a:rPr>
              <a:t>click</a:t>
            </a:r>
            <a:r>
              <a:rPr lang="en-CA" dirty="0">
                <a:solidFill>
                  <a:srgbClr val="A9B7C6"/>
                </a:solidFill>
                <a:effectLst/>
              </a:rPr>
              <a:t>())</a:t>
            </a:r>
            <a:r>
              <a:rPr lang="en-CA" dirty="0">
                <a:solidFill>
                  <a:srgbClr val="CC7832"/>
                </a:solidFill>
                <a:effectLst/>
              </a:rPr>
              <a:t>;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    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onView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withId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 err="1">
                <a:solidFill>
                  <a:srgbClr val="A9B7C6"/>
                </a:solidFill>
                <a:effectLst/>
              </a:rPr>
              <a:t>R.id.</a:t>
            </a:r>
            <a:r>
              <a:rPr lang="en-CA" i="1" dirty="0" err="1">
                <a:solidFill>
                  <a:srgbClr val="9876AA"/>
                </a:solidFill>
                <a:effectLst/>
              </a:rPr>
              <a:t>loginTxt</a:t>
            </a:r>
            <a:r>
              <a:rPr lang="en-CA" dirty="0">
                <a:solidFill>
                  <a:srgbClr val="A9B7C6"/>
                </a:solidFill>
                <a:effectLst/>
              </a:rPr>
              <a:t>))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            .check(</a:t>
            </a:r>
            <a:r>
              <a:rPr lang="en-CA" i="1" dirty="0">
                <a:solidFill>
                  <a:srgbClr val="A9B7C6"/>
                </a:solidFill>
                <a:effectLst/>
              </a:rPr>
              <a:t>matches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withText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dirty="0">
                <a:solidFill>
                  <a:srgbClr val="6A8759"/>
                </a:solidFill>
                <a:effectLst/>
              </a:rPr>
              <a:t>"Invalid login!"</a:t>
            </a:r>
            <a:r>
              <a:rPr lang="en-CA" dirty="0">
                <a:solidFill>
                  <a:srgbClr val="A9B7C6"/>
                </a:solidFill>
                <a:effectLst/>
              </a:rPr>
              <a:t>)))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                .check(</a:t>
            </a:r>
            <a:r>
              <a:rPr lang="en-CA" i="1" dirty="0">
                <a:solidFill>
                  <a:srgbClr val="A9B7C6"/>
                </a:solidFill>
                <a:effectLst/>
              </a:rPr>
              <a:t>matches</a:t>
            </a:r>
            <a:r>
              <a:rPr lang="en-CA" dirty="0">
                <a:solidFill>
                  <a:srgbClr val="A9B7C6"/>
                </a:solidFill>
                <a:effectLst/>
              </a:rPr>
              <a:t>(</a:t>
            </a:r>
            <a:r>
              <a:rPr lang="en-CA" i="1" dirty="0" err="1">
                <a:solidFill>
                  <a:srgbClr val="A9B7C6"/>
                </a:solidFill>
                <a:effectLst/>
              </a:rPr>
              <a:t>isDisplayed</a:t>
            </a:r>
            <a:r>
              <a:rPr lang="en-CA" dirty="0">
                <a:solidFill>
                  <a:srgbClr val="A9B7C6"/>
                </a:solidFill>
                <a:effectLst/>
              </a:rPr>
              <a:t>()))</a:t>
            </a:r>
            <a:r>
              <a:rPr lang="en-CA" dirty="0">
                <a:solidFill>
                  <a:srgbClr val="CC7832"/>
                </a:solidFill>
                <a:effectLst/>
              </a:rPr>
              <a:t>;    </a:t>
            </a:r>
            <a:br>
              <a:rPr lang="en-CA" dirty="0">
                <a:solidFill>
                  <a:srgbClr val="CC7832"/>
                </a:solidFill>
                <a:effectLst/>
              </a:rPr>
            </a:br>
            <a:r>
              <a:rPr lang="en-CA" dirty="0">
                <a:solidFill>
                  <a:srgbClr val="CC7832"/>
                </a:solidFill>
                <a:effectLst/>
              </a:rPr>
              <a:t>    </a:t>
            </a:r>
            <a:r>
              <a:rPr lang="en-CA" dirty="0">
                <a:solidFill>
                  <a:srgbClr val="A9B7C6"/>
                </a:solidFill>
                <a:effectLst/>
              </a:rPr>
              <a:t>}</a:t>
            </a:r>
            <a:br>
              <a:rPr lang="en-CA" dirty="0">
                <a:solidFill>
                  <a:srgbClr val="A9B7C6"/>
                </a:solidFill>
                <a:effectLst/>
              </a:rPr>
            </a:br>
            <a:r>
              <a:rPr lang="en-CA" dirty="0">
                <a:solidFill>
                  <a:srgbClr val="A9B7C6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615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026946-DC53-D99C-550A-CABDDD0D1630}"/>
              </a:ext>
            </a:extLst>
          </p:cNvPr>
          <p:cNvSpPr/>
          <p:nvPr/>
        </p:nvSpPr>
        <p:spPr>
          <a:xfrm>
            <a:off x="566928" y="676985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 the test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37BBF0A-365D-ECDE-F886-D8E3E63FA2D7}"/>
              </a:ext>
            </a:extLst>
          </p:cNvPr>
          <p:cNvSpPr/>
          <p:nvPr/>
        </p:nvSpPr>
        <p:spPr>
          <a:xfrm>
            <a:off x="566928" y="1472513"/>
            <a:ext cx="24013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CA" sz="2400" dirty="0">
                <a:latin typeface="Arial" panose="020B0604020202020204" pitchFamily="34" charset="0"/>
              </a:rPr>
              <a:t>Once the test class is created, right click on the </a:t>
            </a:r>
            <a:r>
              <a:rPr lang="en-CA" sz="2400" dirty="0" err="1">
                <a:latin typeface="Arial" panose="020B0604020202020204" pitchFamily="34" charset="0"/>
              </a:rPr>
              <a:t>androidTest</a:t>
            </a:r>
            <a:r>
              <a:rPr lang="en-CA" sz="2400" dirty="0">
                <a:latin typeface="Arial" panose="020B0604020202020204" pitchFamily="34" charset="0"/>
              </a:rPr>
              <a:t> and run.</a:t>
            </a:r>
            <a:endParaRPr lang="en-US" sz="2400" dirty="0"/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B21E96A-2E8F-ADC3-C4A8-2E0482FC6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670" y="1317065"/>
            <a:ext cx="7772400" cy="478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0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62F3C4-1E40-9852-F6A2-84BFED2C95F8}"/>
              </a:ext>
            </a:extLst>
          </p:cNvPr>
          <p:cNvSpPr/>
          <p:nvPr/>
        </p:nvSpPr>
        <p:spPr>
          <a:xfrm>
            <a:off x="844514" y="258644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99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24414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647</Words>
  <Application>Microsoft Macintosh PowerPoint</Application>
  <PresentationFormat>Widescreen</PresentationFormat>
  <Paragraphs>55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Testing: Local Unit Tests &amp; Espresso (2026)</dc:title>
  <dc:subject>PptxGenJS Presentation</dc:subject>
  <dc:creator>SEG2105</dc:creator>
  <cp:lastModifiedBy>Dipeeka Luitel</cp:lastModifiedBy>
  <cp:revision>21</cp:revision>
  <dcterms:created xsi:type="dcterms:W3CDTF">2026-06-19T15:39:30Z</dcterms:created>
  <dcterms:modified xsi:type="dcterms:W3CDTF">2026-06-19T21:18:20Z</dcterms:modified>
</cp:coreProperties>
</file>